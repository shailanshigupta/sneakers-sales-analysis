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8288000" cy="10287000"/>
  <p:notesSz cx="6858000" cy="9144000"/>
  <p:embeddedFontLst>
    <p:embeddedFont>
      <p:font typeface="Fraunces" pitchFamily="2" charset="77"/>
      <p:regular r:id="rId13"/>
    </p:embeddedFont>
    <p:embeddedFont>
      <p:font typeface="Fraunces Bold" pitchFamily="2" charset="77"/>
      <p:regular r:id="rId14"/>
      <p:bold r:id="rId15"/>
    </p:embeddedFont>
    <p:embeddedFont>
      <p:font typeface="Fraunces Bold Italics" pitchFamily="2" charset="0"/>
      <p:regular r:id="rId16"/>
      <p:bold r:id="rId17"/>
      <p:italic r:id="rId18"/>
      <p:boldItalic r:id="rId1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 autoAdjust="0"/>
    <p:restoredTop sz="94627" autoAdjust="0"/>
  </p:normalViewPr>
  <p:slideViewPr>
    <p:cSldViewPr>
      <p:cViewPr varScale="1">
        <p:scale>
          <a:sx n="62" d="100"/>
          <a:sy n="62" d="100"/>
        </p:scale>
        <p:origin x="584" y="20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5.fntdata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12/3/25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12/3/25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12/3/25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12/3/25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12/3/25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12/3/25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12/3/25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12/3/25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12/3/25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12/3/25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12/3/25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12/3/25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EDE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1646082" y="0"/>
            <a:ext cx="10680518" cy="10836707"/>
            <a:chOff x="0" y="0"/>
            <a:chExt cx="2952750" cy="2995930"/>
          </a:xfrm>
        </p:grpSpPr>
        <p:sp>
          <p:nvSpPr>
            <p:cNvPr id="3" name="Freeform 3"/>
            <p:cNvSpPr/>
            <p:nvPr/>
          </p:nvSpPr>
          <p:spPr>
            <a:xfrm>
              <a:off x="-398" y="234"/>
              <a:ext cx="2952846" cy="2993459"/>
            </a:xfrm>
            <a:custGeom>
              <a:avLst/>
              <a:gdLst/>
              <a:ahLst/>
              <a:cxnLst/>
              <a:rect l="l" t="t" r="r" b="b"/>
              <a:pathLst>
                <a:path w="2952846" h="2993459">
                  <a:moveTo>
                    <a:pt x="2934098" y="11196"/>
                  </a:moveTo>
                  <a:lnTo>
                    <a:pt x="2923938" y="11196"/>
                  </a:lnTo>
                  <a:cubicBezTo>
                    <a:pt x="2682638" y="11196"/>
                    <a:pt x="2441338" y="13736"/>
                    <a:pt x="2201308" y="16276"/>
                  </a:cubicBezTo>
                  <a:cubicBezTo>
                    <a:pt x="1773318" y="21356"/>
                    <a:pt x="1344058" y="28976"/>
                    <a:pt x="916068" y="30246"/>
                  </a:cubicBezTo>
                  <a:cubicBezTo>
                    <a:pt x="749698" y="30246"/>
                    <a:pt x="583328" y="21356"/>
                    <a:pt x="416958" y="11196"/>
                  </a:cubicBezTo>
                  <a:cubicBezTo>
                    <a:pt x="279798" y="2306"/>
                    <a:pt x="140098" y="-5314"/>
                    <a:pt x="2938" y="4846"/>
                  </a:cubicBezTo>
                  <a:cubicBezTo>
                    <a:pt x="4208" y="205506"/>
                    <a:pt x="5478" y="406166"/>
                    <a:pt x="8018" y="605556"/>
                  </a:cubicBezTo>
                  <a:cubicBezTo>
                    <a:pt x="11828" y="1051326"/>
                    <a:pt x="18178" y="1497096"/>
                    <a:pt x="14368" y="1942866"/>
                  </a:cubicBezTo>
                  <a:cubicBezTo>
                    <a:pt x="13098" y="2163846"/>
                    <a:pt x="4208" y="2384826"/>
                    <a:pt x="398" y="2605806"/>
                  </a:cubicBezTo>
                  <a:cubicBezTo>
                    <a:pt x="-2142" y="2725186"/>
                    <a:pt x="8018" y="2844566"/>
                    <a:pt x="15638" y="2962676"/>
                  </a:cubicBezTo>
                  <a:cubicBezTo>
                    <a:pt x="75328" y="2957596"/>
                    <a:pt x="136288" y="2961406"/>
                    <a:pt x="194708" y="2966486"/>
                  </a:cubicBezTo>
                  <a:cubicBezTo>
                    <a:pt x="284878" y="2974106"/>
                    <a:pt x="373778" y="2982996"/>
                    <a:pt x="463948" y="2986806"/>
                  </a:cubicBezTo>
                  <a:cubicBezTo>
                    <a:pt x="880508" y="2999506"/>
                    <a:pt x="1298338" y="2991886"/>
                    <a:pt x="1714898" y="2981726"/>
                  </a:cubicBezTo>
                  <a:cubicBezTo>
                    <a:pt x="2125108" y="2970296"/>
                    <a:pt x="2536588" y="2957596"/>
                    <a:pt x="2948068" y="2956326"/>
                  </a:cubicBezTo>
                  <a:cubicBezTo>
                    <a:pt x="2940448" y="2788686"/>
                    <a:pt x="2931558" y="2621046"/>
                    <a:pt x="2926478" y="2452136"/>
                  </a:cubicBezTo>
                  <a:cubicBezTo>
                    <a:pt x="2913778" y="2029226"/>
                    <a:pt x="2931558" y="1607586"/>
                    <a:pt x="2942988" y="1184676"/>
                  </a:cubicBezTo>
                  <a:cubicBezTo>
                    <a:pt x="2954418" y="794786"/>
                    <a:pt x="2960768" y="402356"/>
                    <a:pt x="2934098" y="11196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11679495" y="152401"/>
            <a:ext cx="10680518" cy="10134599"/>
            <a:chOff x="0" y="0"/>
            <a:chExt cx="2952750" cy="2995930"/>
          </a:xfrm>
        </p:grpSpPr>
        <p:sp>
          <p:nvSpPr>
            <p:cNvPr id="5" name="Freeform 5"/>
            <p:cNvSpPr/>
            <p:nvPr/>
          </p:nvSpPr>
          <p:spPr>
            <a:xfrm>
              <a:off x="-398" y="234"/>
              <a:ext cx="2952846" cy="2993459"/>
            </a:xfrm>
            <a:custGeom>
              <a:avLst/>
              <a:gdLst/>
              <a:ahLst/>
              <a:cxnLst/>
              <a:rect l="l" t="t" r="r" b="b"/>
              <a:pathLst>
                <a:path w="2952846" h="2993459">
                  <a:moveTo>
                    <a:pt x="2934098" y="11196"/>
                  </a:moveTo>
                  <a:lnTo>
                    <a:pt x="2923938" y="11196"/>
                  </a:lnTo>
                  <a:cubicBezTo>
                    <a:pt x="2682638" y="11196"/>
                    <a:pt x="2441338" y="13736"/>
                    <a:pt x="2201308" y="16276"/>
                  </a:cubicBezTo>
                  <a:cubicBezTo>
                    <a:pt x="1773318" y="21356"/>
                    <a:pt x="1344058" y="28976"/>
                    <a:pt x="916068" y="30246"/>
                  </a:cubicBezTo>
                  <a:cubicBezTo>
                    <a:pt x="749698" y="30246"/>
                    <a:pt x="583328" y="21356"/>
                    <a:pt x="416958" y="11196"/>
                  </a:cubicBezTo>
                  <a:cubicBezTo>
                    <a:pt x="279798" y="2306"/>
                    <a:pt x="140098" y="-5314"/>
                    <a:pt x="2938" y="4846"/>
                  </a:cubicBezTo>
                  <a:cubicBezTo>
                    <a:pt x="4208" y="205506"/>
                    <a:pt x="5478" y="406166"/>
                    <a:pt x="8018" y="605556"/>
                  </a:cubicBezTo>
                  <a:cubicBezTo>
                    <a:pt x="11828" y="1051326"/>
                    <a:pt x="18178" y="1497096"/>
                    <a:pt x="14368" y="1942866"/>
                  </a:cubicBezTo>
                  <a:cubicBezTo>
                    <a:pt x="13098" y="2163846"/>
                    <a:pt x="4208" y="2384826"/>
                    <a:pt x="398" y="2605806"/>
                  </a:cubicBezTo>
                  <a:cubicBezTo>
                    <a:pt x="-2142" y="2725186"/>
                    <a:pt x="8018" y="2844566"/>
                    <a:pt x="15638" y="2962676"/>
                  </a:cubicBezTo>
                  <a:cubicBezTo>
                    <a:pt x="75328" y="2957596"/>
                    <a:pt x="136288" y="2961406"/>
                    <a:pt x="194708" y="2966486"/>
                  </a:cubicBezTo>
                  <a:cubicBezTo>
                    <a:pt x="284878" y="2974106"/>
                    <a:pt x="373778" y="2982996"/>
                    <a:pt x="463948" y="2986806"/>
                  </a:cubicBezTo>
                  <a:cubicBezTo>
                    <a:pt x="880508" y="2999506"/>
                    <a:pt x="1298338" y="2991886"/>
                    <a:pt x="1714898" y="2981726"/>
                  </a:cubicBezTo>
                  <a:cubicBezTo>
                    <a:pt x="2125108" y="2970296"/>
                    <a:pt x="2536588" y="2957596"/>
                    <a:pt x="2948068" y="2956326"/>
                  </a:cubicBezTo>
                  <a:cubicBezTo>
                    <a:pt x="2940448" y="2788686"/>
                    <a:pt x="2931558" y="2621046"/>
                    <a:pt x="2926478" y="2452136"/>
                  </a:cubicBezTo>
                  <a:cubicBezTo>
                    <a:pt x="2913778" y="2029226"/>
                    <a:pt x="2931558" y="1607586"/>
                    <a:pt x="2942988" y="1184676"/>
                  </a:cubicBezTo>
                  <a:cubicBezTo>
                    <a:pt x="2954418" y="794786"/>
                    <a:pt x="2960768" y="402356"/>
                    <a:pt x="2934098" y="11196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1527095" y="1"/>
            <a:ext cx="10680518" cy="10287000"/>
            <a:chOff x="0" y="0"/>
            <a:chExt cx="2952750" cy="2995930"/>
          </a:xfrm>
        </p:grpSpPr>
        <p:sp>
          <p:nvSpPr>
            <p:cNvPr id="7" name="Freeform 7"/>
            <p:cNvSpPr/>
            <p:nvPr/>
          </p:nvSpPr>
          <p:spPr>
            <a:xfrm>
              <a:off x="-398" y="234"/>
              <a:ext cx="2952846" cy="2993459"/>
            </a:xfrm>
            <a:custGeom>
              <a:avLst/>
              <a:gdLst/>
              <a:ahLst/>
              <a:cxnLst/>
              <a:rect l="l" t="t" r="r" b="b"/>
              <a:pathLst>
                <a:path w="2952846" h="2993459">
                  <a:moveTo>
                    <a:pt x="2934098" y="11196"/>
                  </a:moveTo>
                  <a:lnTo>
                    <a:pt x="2923938" y="11196"/>
                  </a:lnTo>
                  <a:cubicBezTo>
                    <a:pt x="2682638" y="11196"/>
                    <a:pt x="2441338" y="13736"/>
                    <a:pt x="2201308" y="16276"/>
                  </a:cubicBezTo>
                  <a:cubicBezTo>
                    <a:pt x="1773318" y="21356"/>
                    <a:pt x="1344058" y="28976"/>
                    <a:pt x="916068" y="30246"/>
                  </a:cubicBezTo>
                  <a:cubicBezTo>
                    <a:pt x="749698" y="30246"/>
                    <a:pt x="583328" y="21356"/>
                    <a:pt x="416958" y="11196"/>
                  </a:cubicBezTo>
                  <a:cubicBezTo>
                    <a:pt x="279798" y="2306"/>
                    <a:pt x="140098" y="-5314"/>
                    <a:pt x="2938" y="4846"/>
                  </a:cubicBezTo>
                  <a:cubicBezTo>
                    <a:pt x="4208" y="205506"/>
                    <a:pt x="5478" y="406166"/>
                    <a:pt x="8018" y="605556"/>
                  </a:cubicBezTo>
                  <a:cubicBezTo>
                    <a:pt x="11828" y="1051326"/>
                    <a:pt x="18178" y="1497096"/>
                    <a:pt x="14368" y="1942866"/>
                  </a:cubicBezTo>
                  <a:cubicBezTo>
                    <a:pt x="13098" y="2163846"/>
                    <a:pt x="4208" y="2384826"/>
                    <a:pt x="398" y="2605806"/>
                  </a:cubicBezTo>
                  <a:cubicBezTo>
                    <a:pt x="-2142" y="2725186"/>
                    <a:pt x="8018" y="2844566"/>
                    <a:pt x="15638" y="2962676"/>
                  </a:cubicBezTo>
                  <a:cubicBezTo>
                    <a:pt x="75328" y="2957596"/>
                    <a:pt x="136288" y="2961406"/>
                    <a:pt x="194708" y="2966486"/>
                  </a:cubicBezTo>
                  <a:cubicBezTo>
                    <a:pt x="284878" y="2974106"/>
                    <a:pt x="373778" y="2982996"/>
                    <a:pt x="463948" y="2986806"/>
                  </a:cubicBezTo>
                  <a:cubicBezTo>
                    <a:pt x="880508" y="2999506"/>
                    <a:pt x="1298338" y="2991886"/>
                    <a:pt x="1714898" y="2981726"/>
                  </a:cubicBezTo>
                  <a:cubicBezTo>
                    <a:pt x="2125108" y="2970296"/>
                    <a:pt x="2536588" y="2957596"/>
                    <a:pt x="2948068" y="2956326"/>
                  </a:cubicBezTo>
                  <a:cubicBezTo>
                    <a:pt x="2940448" y="2788686"/>
                    <a:pt x="2931558" y="2621046"/>
                    <a:pt x="2926478" y="2452136"/>
                  </a:cubicBezTo>
                  <a:cubicBezTo>
                    <a:pt x="2913778" y="2029226"/>
                    <a:pt x="2931558" y="1607586"/>
                    <a:pt x="2942988" y="1184676"/>
                  </a:cubicBezTo>
                  <a:cubicBezTo>
                    <a:pt x="2954418" y="794786"/>
                    <a:pt x="2960768" y="402356"/>
                    <a:pt x="2934098" y="11196"/>
                  </a:cubicBezTo>
                  <a:close/>
                </a:path>
              </a:pathLst>
            </a:custGeom>
            <a:blipFill>
              <a:blip r:embed="rId2"/>
              <a:stretch>
                <a:fillRect l="-471" r="-471"/>
              </a:stretch>
            </a:blipFill>
          </p:spPr>
          <p:txBody>
            <a:bodyPr/>
            <a:lstStyle/>
            <a:p>
              <a:endParaRPr lang="en-US" dirty="0"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378623" y="784901"/>
            <a:ext cx="10946872" cy="46958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678"/>
              </a:lnSpc>
            </a:pPr>
            <a:endParaRPr/>
          </a:p>
          <a:p>
            <a:pPr algn="l">
              <a:lnSpc>
                <a:spcPts val="5678"/>
              </a:lnSpc>
            </a:pPr>
            <a:endParaRPr/>
          </a:p>
          <a:p>
            <a:pPr algn="l">
              <a:lnSpc>
                <a:spcPts val="5678"/>
              </a:lnSpc>
            </a:pPr>
            <a:r>
              <a:rPr lang="en-US" sz="5356" spc="428">
                <a:solidFill>
                  <a:srgbClr val="0D0C0A"/>
                </a:solidFill>
                <a:latin typeface="Fraunces"/>
                <a:ea typeface="Fraunces"/>
                <a:cs typeface="Fraunces"/>
                <a:sym typeface="Fraunces"/>
              </a:rPr>
              <a:t>   PREDICTING  SNEAKER</a:t>
            </a:r>
          </a:p>
          <a:p>
            <a:pPr algn="l">
              <a:lnSpc>
                <a:spcPts val="5678"/>
              </a:lnSpc>
            </a:pPr>
            <a:r>
              <a:rPr lang="en-US" sz="5356" spc="428">
                <a:solidFill>
                  <a:srgbClr val="0D0C0A"/>
                </a:solidFill>
                <a:latin typeface="Fraunces"/>
                <a:ea typeface="Fraunces"/>
                <a:cs typeface="Fraunces"/>
                <a:sym typeface="Fraunces"/>
              </a:rPr>
              <a:t>   RESALE  VALUE :</a:t>
            </a:r>
          </a:p>
          <a:p>
            <a:pPr algn="l">
              <a:lnSpc>
                <a:spcPts val="5678"/>
              </a:lnSpc>
            </a:pPr>
            <a:r>
              <a:rPr lang="en-US" sz="5356" spc="428">
                <a:solidFill>
                  <a:srgbClr val="0D0C0A"/>
                </a:solidFill>
                <a:latin typeface="Fraunces"/>
                <a:ea typeface="Fraunces"/>
                <a:cs typeface="Fraunces"/>
                <a:sym typeface="Fraunces"/>
              </a:rPr>
              <a:t> </a:t>
            </a:r>
          </a:p>
          <a:p>
            <a:pPr algn="l">
              <a:lnSpc>
                <a:spcPts val="3134"/>
              </a:lnSpc>
            </a:pPr>
            <a:r>
              <a:rPr lang="en-US" sz="2956" spc="236">
                <a:solidFill>
                  <a:srgbClr val="0D0C0A"/>
                </a:solidFill>
                <a:latin typeface="Fraunces"/>
                <a:ea typeface="Fraunces"/>
                <a:cs typeface="Fraunces"/>
                <a:sym typeface="Fraunces"/>
              </a:rPr>
              <a:t>A MULTI-MODEL MACHINE LEARNING APPROACH</a:t>
            </a:r>
          </a:p>
          <a:p>
            <a:pPr algn="l">
              <a:lnSpc>
                <a:spcPts val="5678"/>
              </a:lnSpc>
            </a:pPr>
            <a:endParaRPr lang="en-US" sz="2956" spc="236">
              <a:solidFill>
                <a:srgbClr val="0D0C0A"/>
              </a:solidFill>
              <a:latin typeface="Fraunces"/>
              <a:ea typeface="Fraunces"/>
              <a:cs typeface="Fraunces"/>
              <a:sym typeface="Fraunces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724223" y="8118551"/>
            <a:ext cx="9241040" cy="8273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94"/>
              </a:lnSpc>
            </a:pPr>
            <a:r>
              <a:rPr lang="en-US" sz="2070" b="1" spc="188">
                <a:solidFill>
                  <a:srgbClr val="082442"/>
                </a:solidFill>
                <a:latin typeface="Fraunces Bold"/>
                <a:ea typeface="Fraunces Bold"/>
                <a:cs typeface="Fraunces Bold"/>
                <a:sym typeface="Fraunces Bold"/>
              </a:rPr>
              <a:t>SHAILANSHI  GUPTA</a:t>
            </a:r>
          </a:p>
          <a:p>
            <a:pPr algn="l">
              <a:lnSpc>
                <a:spcPts val="2194"/>
              </a:lnSpc>
            </a:pPr>
            <a:r>
              <a:rPr lang="en-US" sz="2070" b="1" spc="188">
                <a:solidFill>
                  <a:srgbClr val="082442"/>
                </a:solidFill>
                <a:latin typeface="Fraunces Bold"/>
                <a:ea typeface="Fraunces Bold"/>
                <a:cs typeface="Fraunces Bold"/>
                <a:sym typeface="Fraunces Bold"/>
              </a:rPr>
              <a:t>INTRODUCTION  TO  Business  Analytics  Project</a:t>
            </a:r>
          </a:p>
          <a:p>
            <a:pPr algn="l">
              <a:lnSpc>
                <a:spcPts val="2194"/>
              </a:lnSpc>
            </a:pPr>
            <a:r>
              <a:rPr lang="en-US" sz="2070" b="1" spc="188">
                <a:solidFill>
                  <a:srgbClr val="082442"/>
                </a:solidFill>
                <a:latin typeface="Fraunces Bold"/>
                <a:ea typeface="Fraunces Bold"/>
                <a:cs typeface="Fraunces Bold"/>
                <a:sym typeface="Fraunces Bold"/>
              </a:rPr>
              <a:t>December  2024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EDE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8000"/>
            </a:blip>
            <a:stretch>
              <a:fillRect l="-1476" t="-40201" b="-40201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TextBox 3"/>
          <p:cNvSpPr txBox="1"/>
          <p:nvPr/>
        </p:nvSpPr>
        <p:spPr>
          <a:xfrm>
            <a:off x="4179280" y="1104900"/>
            <a:ext cx="9929440" cy="7334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678"/>
              </a:lnSpc>
              <a:spcBef>
                <a:spcPct val="0"/>
              </a:spcBef>
            </a:pPr>
            <a:r>
              <a:rPr lang="en-US" sz="5356" b="1" i="1" spc="428">
                <a:solidFill>
                  <a:srgbClr val="000000"/>
                </a:solidFill>
                <a:latin typeface="Fraunces Bold Italics"/>
                <a:ea typeface="Fraunces Bold Italics"/>
                <a:cs typeface="Fraunces Bold Italics"/>
                <a:sym typeface="Fraunces Bold Italics"/>
              </a:rPr>
              <a:t>THE BUSINESS PROBLEM</a:t>
            </a:r>
            <a:r>
              <a:rPr lang="en-US" sz="5356" spc="428">
                <a:solidFill>
                  <a:srgbClr val="000000"/>
                </a:solidFill>
                <a:latin typeface="Fraunces"/>
                <a:ea typeface="Fraunces"/>
                <a:cs typeface="Fraunces"/>
                <a:sym typeface="Fraunces"/>
              </a:rPr>
              <a:t> 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253005" y="2253291"/>
            <a:ext cx="17354040" cy="62837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80"/>
              </a:lnSpc>
            </a:pPr>
            <a:endParaRPr dirty="0"/>
          </a:p>
          <a:p>
            <a:pPr algn="l">
              <a:lnSpc>
                <a:spcPts val="3480"/>
              </a:lnSpc>
            </a:pPr>
            <a:r>
              <a:rPr lang="en-US" sz="3283" b="1" spc="262" dirty="0">
                <a:solidFill>
                  <a:srgbClr val="000000"/>
                </a:solidFill>
                <a:latin typeface="Fraunces Bold"/>
                <a:ea typeface="Fraunces Bold"/>
                <a:cs typeface="Fraunces Bold"/>
                <a:sym typeface="Fraunces Bold"/>
              </a:rPr>
              <a:t>THE SNEAKER RESALE MARKET</a:t>
            </a:r>
          </a:p>
          <a:p>
            <a:pPr algn="l">
              <a:lnSpc>
                <a:spcPts val="3480"/>
              </a:lnSpc>
            </a:pPr>
            <a:r>
              <a:rPr lang="en-US" sz="3283" spc="262" dirty="0">
                <a:solidFill>
                  <a:srgbClr val="000000"/>
                </a:solidFill>
                <a:latin typeface="Fraunces"/>
                <a:ea typeface="Fraunces"/>
                <a:cs typeface="Fraunces"/>
                <a:sym typeface="Fraunces"/>
              </a:rPr>
              <a:t>- Multi-billion dollar industry with 200-400% markups</a:t>
            </a:r>
          </a:p>
          <a:p>
            <a:pPr algn="l">
              <a:lnSpc>
                <a:spcPts val="3480"/>
              </a:lnSpc>
            </a:pPr>
            <a:r>
              <a:rPr lang="en-US" sz="3283" spc="262" dirty="0">
                <a:solidFill>
                  <a:srgbClr val="000000"/>
                </a:solidFill>
                <a:latin typeface="Fraunces"/>
                <a:ea typeface="Fraunces"/>
                <a:cs typeface="Fraunces"/>
                <a:sym typeface="Fraunces"/>
              </a:rPr>
              <a:t>- Our data: Average sneaker sells for $447 (213% of $209 retail)</a:t>
            </a:r>
          </a:p>
          <a:p>
            <a:pPr algn="l">
              <a:lnSpc>
                <a:spcPts val="3480"/>
              </a:lnSpc>
            </a:pPr>
            <a:endParaRPr lang="en-US" sz="3283" spc="262" dirty="0">
              <a:solidFill>
                <a:srgbClr val="000000"/>
              </a:solidFill>
              <a:latin typeface="Fraunces"/>
              <a:ea typeface="Fraunces"/>
              <a:cs typeface="Fraunces"/>
              <a:sym typeface="Fraunces"/>
            </a:endParaRPr>
          </a:p>
          <a:p>
            <a:pPr algn="l">
              <a:lnSpc>
                <a:spcPts val="3480"/>
              </a:lnSpc>
            </a:pPr>
            <a:endParaRPr lang="en-US" sz="3283" spc="262" dirty="0">
              <a:solidFill>
                <a:srgbClr val="000000"/>
              </a:solidFill>
              <a:latin typeface="Fraunces"/>
              <a:ea typeface="Fraunces"/>
              <a:cs typeface="Fraunces"/>
              <a:sym typeface="Fraunces"/>
            </a:endParaRPr>
          </a:p>
          <a:p>
            <a:pPr algn="l">
              <a:lnSpc>
                <a:spcPts val="3480"/>
              </a:lnSpc>
            </a:pPr>
            <a:r>
              <a:rPr lang="en-US" sz="3283" b="1" spc="262" dirty="0">
                <a:solidFill>
                  <a:srgbClr val="000000"/>
                </a:solidFill>
                <a:latin typeface="Fraunces Bold"/>
                <a:ea typeface="Fraunces Bold"/>
                <a:cs typeface="Fraunces Bold"/>
                <a:sym typeface="Fraunces Bold"/>
              </a:rPr>
              <a:t>The Challenge</a:t>
            </a:r>
          </a:p>
          <a:p>
            <a:pPr algn="l">
              <a:lnSpc>
                <a:spcPts val="3480"/>
              </a:lnSpc>
            </a:pPr>
            <a:r>
              <a:rPr lang="en-US" sz="3283" spc="262" dirty="0">
                <a:solidFill>
                  <a:srgbClr val="000000"/>
                </a:solidFill>
                <a:latin typeface="Fraunces"/>
                <a:ea typeface="Fraunces"/>
                <a:cs typeface="Fraunces"/>
                <a:sym typeface="Fraunces"/>
              </a:rPr>
              <a:t>- Which sneakers will hold/gain value?</a:t>
            </a:r>
          </a:p>
          <a:p>
            <a:pPr algn="l">
              <a:lnSpc>
                <a:spcPts val="3480"/>
              </a:lnSpc>
            </a:pPr>
            <a:r>
              <a:rPr lang="en-US" sz="3283" spc="262" dirty="0">
                <a:solidFill>
                  <a:srgbClr val="000000"/>
                </a:solidFill>
                <a:latin typeface="Fraunces"/>
                <a:ea typeface="Fraunces"/>
                <a:cs typeface="Fraunces"/>
                <a:sym typeface="Fraunces"/>
              </a:rPr>
              <a:t>- Buyers and resellers need data-driven guidance</a:t>
            </a:r>
          </a:p>
          <a:p>
            <a:pPr algn="l">
              <a:lnSpc>
                <a:spcPts val="3480"/>
              </a:lnSpc>
            </a:pPr>
            <a:endParaRPr lang="en-US" sz="3283" spc="262" dirty="0">
              <a:solidFill>
                <a:srgbClr val="000000"/>
              </a:solidFill>
              <a:latin typeface="Fraunces"/>
              <a:ea typeface="Fraunces"/>
              <a:cs typeface="Fraunces"/>
              <a:sym typeface="Fraunces"/>
            </a:endParaRPr>
          </a:p>
          <a:p>
            <a:pPr algn="l">
              <a:lnSpc>
                <a:spcPts val="3480"/>
              </a:lnSpc>
            </a:pPr>
            <a:endParaRPr lang="en-US" sz="3283" spc="262" dirty="0">
              <a:solidFill>
                <a:srgbClr val="000000"/>
              </a:solidFill>
              <a:latin typeface="Fraunces"/>
              <a:ea typeface="Fraunces"/>
              <a:cs typeface="Fraunces"/>
              <a:sym typeface="Fraunces"/>
            </a:endParaRPr>
          </a:p>
          <a:p>
            <a:pPr algn="l">
              <a:lnSpc>
                <a:spcPts val="3480"/>
              </a:lnSpc>
            </a:pPr>
            <a:r>
              <a:rPr lang="en-US" sz="3283" b="1" spc="262" dirty="0">
                <a:solidFill>
                  <a:srgbClr val="000000"/>
                </a:solidFill>
                <a:latin typeface="Fraunces Bold"/>
                <a:ea typeface="Fraunces Bold"/>
                <a:cs typeface="Fraunces Bold"/>
                <a:sym typeface="Fraunces Bold"/>
              </a:rPr>
              <a:t>Research Question</a:t>
            </a:r>
          </a:p>
          <a:p>
            <a:pPr algn="l">
              <a:lnSpc>
                <a:spcPts val="3480"/>
              </a:lnSpc>
            </a:pPr>
            <a:r>
              <a:rPr lang="en-US" sz="3283" spc="262" dirty="0">
                <a:solidFill>
                  <a:srgbClr val="000000"/>
                </a:solidFill>
                <a:latin typeface="Fraunces"/>
                <a:ea typeface="Fraunces"/>
                <a:cs typeface="Fraunces"/>
                <a:sym typeface="Fraunces"/>
              </a:rPr>
              <a:t>- Can we predict sneaker resale prices?</a:t>
            </a:r>
          </a:p>
          <a:p>
            <a:pPr algn="l">
              <a:lnSpc>
                <a:spcPts val="3480"/>
              </a:lnSpc>
              <a:spcBef>
                <a:spcPct val="0"/>
              </a:spcBef>
            </a:pPr>
            <a:r>
              <a:rPr lang="en-US" sz="3283" spc="262" dirty="0">
                <a:solidFill>
                  <a:srgbClr val="000000"/>
                </a:solidFill>
                <a:latin typeface="Fraunces"/>
                <a:ea typeface="Fraunces"/>
                <a:cs typeface="Fraunces"/>
                <a:sym typeface="Fraunces"/>
              </a:rPr>
              <a:t>- What factors drive value?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EDE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3167089" y="2811710"/>
            <a:ext cx="4362198" cy="5301882"/>
          </a:xfrm>
          <a:custGeom>
            <a:avLst/>
            <a:gdLst/>
            <a:ahLst/>
            <a:cxnLst/>
            <a:rect l="l" t="t" r="r" b="b"/>
            <a:pathLst>
              <a:path w="4362198" h="5301882">
                <a:moveTo>
                  <a:pt x="0" y="0"/>
                </a:moveTo>
                <a:lnTo>
                  <a:pt x="4362198" y="0"/>
                </a:lnTo>
                <a:lnTo>
                  <a:pt x="4362198" y="5301882"/>
                </a:lnTo>
                <a:lnTo>
                  <a:pt x="0" y="530188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78807" t="-28199" r="-146472" b="-50108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TextBox 3"/>
          <p:cNvSpPr txBox="1"/>
          <p:nvPr/>
        </p:nvSpPr>
        <p:spPr>
          <a:xfrm>
            <a:off x="1610246" y="700091"/>
            <a:ext cx="15067508" cy="7334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678"/>
              </a:lnSpc>
              <a:spcBef>
                <a:spcPct val="0"/>
              </a:spcBef>
            </a:pPr>
            <a:r>
              <a:rPr lang="en-US" sz="5356" spc="428">
                <a:solidFill>
                  <a:srgbClr val="000000"/>
                </a:solidFill>
                <a:latin typeface="Fraunces"/>
                <a:ea typeface="Fraunces"/>
                <a:cs typeface="Fraunces"/>
                <a:sym typeface="Fraunces"/>
              </a:rPr>
              <a:t>WHO BENEFITS FROM THIS ANALYSIS?</a:t>
            </a:r>
          </a:p>
        </p:txBody>
      </p:sp>
      <p:sp>
        <p:nvSpPr>
          <p:cNvPr id="4" name="Freeform 4"/>
          <p:cNvSpPr/>
          <p:nvPr/>
        </p:nvSpPr>
        <p:spPr>
          <a:xfrm>
            <a:off x="6783343" y="2811710"/>
            <a:ext cx="4363402" cy="5301882"/>
          </a:xfrm>
          <a:custGeom>
            <a:avLst/>
            <a:gdLst/>
            <a:ahLst/>
            <a:cxnLst/>
            <a:rect l="l" t="t" r="r" b="b"/>
            <a:pathLst>
              <a:path w="4363402" h="5301882">
                <a:moveTo>
                  <a:pt x="0" y="0"/>
                </a:moveTo>
                <a:lnTo>
                  <a:pt x="4363403" y="0"/>
                </a:lnTo>
                <a:lnTo>
                  <a:pt x="4363403" y="5301882"/>
                </a:lnTo>
                <a:lnTo>
                  <a:pt x="0" y="530188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84824" t="-28199" r="-140366" b="-50108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Freeform 5"/>
          <p:cNvSpPr/>
          <p:nvPr/>
        </p:nvSpPr>
        <p:spPr>
          <a:xfrm>
            <a:off x="746246" y="2811710"/>
            <a:ext cx="4363402" cy="5301882"/>
          </a:xfrm>
          <a:custGeom>
            <a:avLst/>
            <a:gdLst/>
            <a:ahLst/>
            <a:cxnLst/>
            <a:rect l="l" t="t" r="r" b="b"/>
            <a:pathLst>
              <a:path w="4363402" h="5301882">
                <a:moveTo>
                  <a:pt x="0" y="0"/>
                </a:moveTo>
                <a:lnTo>
                  <a:pt x="4363402" y="0"/>
                </a:lnTo>
                <a:lnTo>
                  <a:pt x="4363402" y="5301882"/>
                </a:lnTo>
                <a:lnTo>
                  <a:pt x="0" y="530188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94681" t="-28199" r="-130509" b="-50108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TextBox 6"/>
          <p:cNvSpPr txBox="1"/>
          <p:nvPr/>
        </p:nvSpPr>
        <p:spPr>
          <a:xfrm>
            <a:off x="1194923" y="3193627"/>
            <a:ext cx="3466047" cy="45761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94"/>
              </a:lnSpc>
            </a:pPr>
            <a:r>
              <a:rPr lang="en-US" sz="3107" spc="248">
                <a:solidFill>
                  <a:srgbClr val="000000"/>
                </a:solidFill>
                <a:latin typeface="Fraunces"/>
                <a:ea typeface="Fraunces"/>
                <a:cs typeface="Fraunces"/>
                <a:sym typeface="Fraunces"/>
              </a:rPr>
              <a:t>👤 CONSUMERS</a:t>
            </a:r>
          </a:p>
          <a:p>
            <a:pPr algn="ctr">
              <a:lnSpc>
                <a:spcPts val="3294"/>
              </a:lnSpc>
            </a:pPr>
            <a:endParaRPr lang="en-US" sz="3107" spc="248">
              <a:solidFill>
                <a:srgbClr val="000000"/>
              </a:solidFill>
              <a:latin typeface="Fraunces"/>
              <a:ea typeface="Fraunces"/>
              <a:cs typeface="Fraunces"/>
              <a:sym typeface="Fraunces"/>
            </a:endParaRPr>
          </a:p>
          <a:p>
            <a:pPr algn="ctr">
              <a:lnSpc>
                <a:spcPts val="3294"/>
              </a:lnSpc>
            </a:pPr>
            <a:r>
              <a:rPr lang="en-US" sz="3107" spc="248">
                <a:solidFill>
                  <a:srgbClr val="000000"/>
                </a:solidFill>
                <a:latin typeface="Fraunces"/>
                <a:ea typeface="Fraunces"/>
                <a:cs typeface="Fraunces"/>
                <a:sym typeface="Fraunces"/>
              </a:rPr>
              <a:t>Make smarter </a:t>
            </a:r>
          </a:p>
          <a:p>
            <a:pPr algn="ctr">
              <a:lnSpc>
                <a:spcPts val="3294"/>
              </a:lnSpc>
            </a:pPr>
            <a:r>
              <a:rPr lang="en-US" sz="3107" spc="248">
                <a:solidFill>
                  <a:srgbClr val="000000"/>
                </a:solidFill>
                <a:latin typeface="Fraunces"/>
                <a:ea typeface="Fraunces"/>
                <a:cs typeface="Fraunces"/>
                <a:sym typeface="Fraunces"/>
              </a:rPr>
              <a:t>purchasing decisions</a:t>
            </a:r>
          </a:p>
          <a:p>
            <a:pPr algn="ctr">
              <a:lnSpc>
                <a:spcPts val="3294"/>
              </a:lnSpc>
            </a:pPr>
            <a:endParaRPr lang="en-US" sz="3107" spc="248">
              <a:solidFill>
                <a:srgbClr val="000000"/>
              </a:solidFill>
              <a:latin typeface="Fraunces"/>
              <a:ea typeface="Fraunces"/>
              <a:cs typeface="Fraunces"/>
              <a:sym typeface="Fraunces"/>
            </a:endParaRPr>
          </a:p>
          <a:p>
            <a:pPr algn="ctr">
              <a:lnSpc>
                <a:spcPts val="3294"/>
              </a:lnSpc>
            </a:pPr>
            <a:r>
              <a:rPr lang="en-US" sz="3107" spc="248">
                <a:solidFill>
                  <a:srgbClr val="000000"/>
                </a:solidFill>
                <a:latin typeface="Fraunces"/>
                <a:ea typeface="Fraunces"/>
                <a:cs typeface="Fraunces"/>
                <a:sym typeface="Fraunces"/>
              </a:rPr>
              <a:t>Identify investment-</a:t>
            </a:r>
          </a:p>
          <a:p>
            <a:pPr algn="ctr">
              <a:lnSpc>
                <a:spcPts val="3294"/>
              </a:lnSpc>
              <a:spcBef>
                <a:spcPct val="0"/>
              </a:spcBef>
            </a:pPr>
            <a:r>
              <a:rPr lang="en-US" sz="3107" spc="248">
                <a:solidFill>
                  <a:srgbClr val="000000"/>
                </a:solidFill>
                <a:latin typeface="Fraunces"/>
                <a:ea typeface="Fraunces"/>
                <a:cs typeface="Fraunces"/>
                <a:sym typeface="Fraunces"/>
              </a:rPr>
              <a:t>worthy sneakers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7196475" y="3569259"/>
            <a:ext cx="3537139" cy="38248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01"/>
              </a:lnSpc>
            </a:pPr>
            <a:r>
              <a:rPr lang="en-US" sz="3208" spc="256">
                <a:solidFill>
                  <a:srgbClr val="000000"/>
                </a:solidFill>
                <a:latin typeface="Fraunces"/>
                <a:ea typeface="Fraunces"/>
                <a:cs typeface="Fraunces"/>
                <a:sym typeface="Fraunces"/>
              </a:rPr>
              <a:t>💼 RESELLERS</a:t>
            </a:r>
          </a:p>
          <a:p>
            <a:pPr algn="ctr">
              <a:lnSpc>
                <a:spcPts val="3401"/>
              </a:lnSpc>
            </a:pPr>
            <a:endParaRPr lang="en-US" sz="3208" spc="256">
              <a:solidFill>
                <a:srgbClr val="000000"/>
              </a:solidFill>
              <a:latin typeface="Fraunces"/>
              <a:ea typeface="Fraunces"/>
              <a:cs typeface="Fraunces"/>
              <a:sym typeface="Fraunces"/>
            </a:endParaRPr>
          </a:p>
          <a:p>
            <a:pPr algn="ctr">
              <a:lnSpc>
                <a:spcPts val="3401"/>
              </a:lnSpc>
            </a:pPr>
            <a:r>
              <a:rPr lang="en-US" sz="3208" spc="256">
                <a:solidFill>
                  <a:srgbClr val="000000"/>
                </a:solidFill>
                <a:latin typeface="Fraunces"/>
                <a:ea typeface="Fraunces"/>
                <a:cs typeface="Fraunces"/>
                <a:sym typeface="Fraunces"/>
              </a:rPr>
              <a:t>Optimize inventory </a:t>
            </a:r>
          </a:p>
          <a:p>
            <a:pPr algn="ctr">
              <a:lnSpc>
                <a:spcPts val="3401"/>
              </a:lnSpc>
            </a:pPr>
            <a:r>
              <a:rPr lang="en-US" sz="3208" spc="256">
                <a:solidFill>
                  <a:srgbClr val="000000"/>
                </a:solidFill>
                <a:latin typeface="Fraunces"/>
                <a:ea typeface="Fraunces"/>
                <a:cs typeface="Fraunces"/>
                <a:sym typeface="Fraunces"/>
              </a:rPr>
              <a:t>selection</a:t>
            </a:r>
          </a:p>
          <a:p>
            <a:pPr algn="ctr">
              <a:lnSpc>
                <a:spcPts val="3401"/>
              </a:lnSpc>
            </a:pPr>
            <a:endParaRPr lang="en-US" sz="3208" spc="256">
              <a:solidFill>
                <a:srgbClr val="000000"/>
              </a:solidFill>
              <a:latin typeface="Fraunces"/>
              <a:ea typeface="Fraunces"/>
              <a:cs typeface="Fraunces"/>
              <a:sym typeface="Fraunces"/>
            </a:endParaRPr>
          </a:p>
          <a:p>
            <a:pPr algn="ctr">
              <a:lnSpc>
                <a:spcPts val="3401"/>
              </a:lnSpc>
            </a:pPr>
            <a:r>
              <a:rPr lang="en-US" sz="3208" spc="256">
                <a:solidFill>
                  <a:srgbClr val="000000"/>
                </a:solidFill>
                <a:latin typeface="Fraunces"/>
                <a:ea typeface="Fraunces"/>
                <a:cs typeface="Fraunces"/>
                <a:sym typeface="Fraunces"/>
              </a:rPr>
              <a:t>Maximize profit </a:t>
            </a:r>
          </a:p>
          <a:p>
            <a:pPr algn="ctr">
              <a:lnSpc>
                <a:spcPts val="3401"/>
              </a:lnSpc>
              <a:spcBef>
                <a:spcPct val="0"/>
              </a:spcBef>
            </a:pPr>
            <a:r>
              <a:rPr lang="en-US" sz="3208" spc="256">
                <a:solidFill>
                  <a:srgbClr val="000000"/>
                </a:solidFill>
                <a:latin typeface="Fraunces"/>
                <a:ea typeface="Fraunces"/>
                <a:cs typeface="Fraunces"/>
                <a:sym typeface="Fraunces"/>
              </a:rPr>
              <a:t>margins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3756243" y="3442219"/>
            <a:ext cx="3183890" cy="40789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25"/>
              </a:lnSpc>
            </a:pPr>
            <a:r>
              <a:rPr lang="en-US" sz="3419" spc="273">
                <a:solidFill>
                  <a:srgbClr val="000000"/>
                </a:solidFill>
                <a:latin typeface="Fraunces"/>
                <a:ea typeface="Fraunces"/>
                <a:cs typeface="Fraunces"/>
                <a:sym typeface="Fraunces"/>
              </a:rPr>
              <a:t>🏢 BRANDS</a:t>
            </a:r>
          </a:p>
          <a:p>
            <a:pPr algn="ctr">
              <a:lnSpc>
                <a:spcPts val="3625"/>
              </a:lnSpc>
            </a:pPr>
            <a:endParaRPr lang="en-US" sz="3419" spc="273">
              <a:solidFill>
                <a:srgbClr val="000000"/>
              </a:solidFill>
              <a:latin typeface="Fraunces"/>
              <a:ea typeface="Fraunces"/>
              <a:cs typeface="Fraunces"/>
              <a:sym typeface="Fraunces"/>
            </a:endParaRPr>
          </a:p>
          <a:p>
            <a:pPr algn="ctr">
              <a:lnSpc>
                <a:spcPts val="3625"/>
              </a:lnSpc>
            </a:pPr>
            <a:r>
              <a:rPr lang="en-US" sz="3419" spc="273">
                <a:solidFill>
                  <a:srgbClr val="000000"/>
                </a:solidFill>
                <a:latin typeface="Fraunces"/>
                <a:ea typeface="Fraunces"/>
                <a:cs typeface="Fraunces"/>
                <a:sym typeface="Fraunces"/>
              </a:rPr>
              <a:t>Understand market </a:t>
            </a:r>
          </a:p>
          <a:p>
            <a:pPr algn="ctr">
              <a:lnSpc>
                <a:spcPts val="3625"/>
              </a:lnSpc>
            </a:pPr>
            <a:r>
              <a:rPr lang="en-US" sz="3419" spc="273">
                <a:solidFill>
                  <a:srgbClr val="000000"/>
                </a:solidFill>
                <a:latin typeface="Fraunces"/>
                <a:ea typeface="Fraunces"/>
                <a:cs typeface="Fraunces"/>
                <a:sym typeface="Fraunces"/>
              </a:rPr>
              <a:t>drivers</a:t>
            </a:r>
          </a:p>
          <a:p>
            <a:pPr algn="ctr">
              <a:lnSpc>
                <a:spcPts val="3625"/>
              </a:lnSpc>
            </a:pPr>
            <a:endParaRPr lang="en-US" sz="3419" spc="273">
              <a:solidFill>
                <a:srgbClr val="000000"/>
              </a:solidFill>
              <a:latin typeface="Fraunces"/>
              <a:ea typeface="Fraunces"/>
              <a:cs typeface="Fraunces"/>
              <a:sym typeface="Fraunces"/>
            </a:endParaRPr>
          </a:p>
          <a:p>
            <a:pPr algn="ctr">
              <a:lnSpc>
                <a:spcPts val="3625"/>
              </a:lnSpc>
            </a:pPr>
            <a:r>
              <a:rPr lang="en-US" sz="3419" spc="273">
                <a:solidFill>
                  <a:srgbClr val="000000"/>
                </a:solidFill>
                <a:latin typeface="Fraunces"/>
                <a:ea typeface="Fraunces"/>
                <a:cs typeface="Fraunces"/>
                <a:sym typeface="Fraunces"/>
              </a:rPr>
              <a:t>Inform pricing </a:t>
            </a:r>
          </a:p>
          <a:p>
            <a:pPr algn="ctr">
              <a:lnSpc>
                <a:spcPts val="3625"/>
              </a:lnSpc>
              <a:spcBef>
                <a:spcPct val="0"/>
              </a:spcBef>
            </a:pPr>
            <a:r>
              <a:rPr lang="en-US" sz="3419" spc="273">
                <a:solidFill>
                  <a:srgbClr val="000000"/>
                </a:solidFill>
                <a:latin typeface="Fraunces"/>
                <a:ea typeface="Fraunces"/>
                <a:cs typeface="Fraunces"/>
                <a:sym typeface="Fraunces"/>
              </a:rPr>
              <a:t>strategies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EDE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3878857" y="1028700"/>
            <a:ext cx="3380443" cy="1738297"/>
          </a:xfrm>
          <a:custGeom>
            <a:avLst/>
            <a:gdLst/>
            <a:ahLst/>
            <a:cxnLst/>
            <a:rect l="l" t="t" r="r" b="b"/>
            <a:pathLst>
              <a:path w="3380443" h="1738297">
                <a:moveTo>
                  <a:pt x="0" y="0"/>
                </a:moveTo>
                <a:lnTo>
                  <a:pt x="3380443" y="0"/>
                </a:lnTo>
                <a:lnTo>
                  <a:pt x="3380443" y="1738297"/>
                </a:lnTo>
                <a:lnTo>
                  <a:pt x="0" y="173829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23068" t="-58638" r="-21201" b="-157849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13878857" y="3128947"/>
            <a:ext cx="3380443" cy="1738297"/>
          </a:xfrm>
          <a:custGeom>
            <a:avLst/>
            <a:gdLst/>
            <a:ahLst/>
            <a:cxnLst/>
            <a:rect l="l" t="t" r="r" b="b"/>
            <a:pathLst>
              <a:path w="3380443" h="1738297">
                <a:moveTo>
                  <a:pt x="0" y="0"/>
                </a:moveTo>
                <a:lnTo>
                  <a:pt x="3380443" y="0"/>
                </a:lnTo>
                <a:lnTo>
                  <a:pt x="3380443" y="1738298"/>
                </a:lnTo>
                <a:lnTo>
                  <a:pt x="0" y="173829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23068" t="-58638" r="-21201" b="-157849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>
            <a:off x="13940286" y="5229195"/>
            <a:ext cx="3380443" cy="1738297"/>
          </a:xfrm>
          <a:custGeom>
            <a:avLst/>
            <a:gdLst/>
            <a:ahLst/>
            <a:cxnLst/>
            <a:rect l="l" t="t" r="r" b="b"/>
            <a:pathLst>
              <a:path w="3380443" h="1738297">
                <a:moveTo>
                  <a:pt x="0" y="0"/>
                </a:moveTo>
                <a:lnTo>
                  <a:pt x="3380443" y="0"/>
                </a:lnTo>
                <a:lnTo>
                  <a:pt x="3380443" y="1738297"/>
                </a:lnTo>
                <a:lnTo>
                  <a:pt x="0" y="173829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23068" t="-58638" r="-21201" b="-157849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Freeform 5"/>
          <p:cNvSpPr/>
          <p:nvPr/>
        </p:nvSpPr>
        <p:spPr>
          <a:xfrm>
            <a:off x="14001715" y="7329442"/>
            <a:ext cx="3380443" cy="1738297"/>
          </a:xfrm>
          <a:custGeom>
            <a:avLst/>
            <a:gdLst/>
            <a:ahLst/>
            <a:cxnLst/>
            <a:rect l="l" t="t" r="r" b="b"/>
            <a:pathLst>
              <a:path w="3380443" h="1738297">
                <a:moveTo>
                  <a:pt x="0" y="0"/>
                </a:moveTo>
                <a:lnTo>
                  <a:pt x="3380443" y="0"/>
                </a:lnTo>
                <a:lnTo>
                  <a:pt x="3380443" y="1738297"/>
                </a:lnTo>
                <a:lnTo>
                  <a:pt x="0" y="173829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23068" t="-58638" r="-21201" b="-157849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Freeform 6"/>
          <p:cNvSpPr/>
          <p:nvPr/>
        </p:nvSpPr>
        <p:spPr>
          <a:xfrm flipH="1">
            <a:off x="7667086" y="5232862"/>
            <a:ext cx="6211771" cy="5054138"/>
          </a:xfrm>
          <a:custGeom>
            <a:avLst/>
            <a:gdLst/>
            <a:ahLst/>
            <a:cxnLst/>
            <a:rect l="l" t="t" r="r" b="b"/>
            <a:pathLst>
              <a:path w="6211771" h="5054138">
                <a:moveTo>
                  <a:pt x="6211771" y="0"/>
                </a:moveTo>
                <a:lnTo>
                  <a:pt x="0" y="0"/>
                </a:lnTo>
                <a:lnTo>
                  <a:pt x="0" y="5054138"/>
                </a:lnTo>
                <a:lnTo>
                  <a:pt x="6211771" y="5054138"/>
                </a:lnTo>
                <a:lnTo>
                  <a:pt x="6211771" y="0"/>
                </a:lnTo>
                <a:close/>
              </a:path>
            </a:pathLst>
          </a:custGeom>
          <a:blipFill>
            <a:blip r:embed="rId3">
              <a:alphaModFix amt="6999"/>
            </a:blip>
            <a:stretch>
              <a:fillRect l="-6624" t="-59449" r="-12611" b="-23732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TextBox 7"/>
          <p:cNvSpPr txBox="1"/>
          <p:nvPr/>
        </p:nvSpPr>
        <p:spPr>
          <a:xfrm>
            <a:off x="588945" y="3267390"/>
            <a:ext cx="12070110" cy="48065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93"/>
              </a:lnSpc>
            </a:pPr>
            <a:r>
              <a:rPr lang="en-US" sz="3012" b="1" spc="240">
                <a:solidFill>
                  <a:srgbClr val="000000"/>
                </a:solidFill>
                <a:latin typeface="Fraunces Bold"/>
                <a:ea typeface="Fraunces Bold"/>
                <a:cs typeface="Fraunces Bold"/>
                <a:sym typeface="Fraunces Bold"/>
              </a:rPr>
              <a:t>DATA SOURCE</a:t>
            </a:r>
          </a:p>
          <a:p>
            <a:pPr algn="l">
              <a:lnSpc>
                <a:spcPts val="3193"/>
              </a:lnSpc>
            </a:pPr>
            <a:r>
              <a:rPr lang="en-US" sz="3012" spc="240">
                <a:solidFill>
                  <a:srgbClr val="000000"/>
                </a:solidFill>
                <a:latin typeface="Fraunces"/>
                <a:ea typeface="Fraunces"/>
                <a:cs typeface="Fraunces"/>
                <a:sym typeface="Fraunces"/>
              </a:rPr>
              <a:t>- StockX marketplace (real resale platform)</a:t>
            </a:r>
          </a:p>
          <a:p>
            <a:pPr algn="l">
              <a:lnSpc>
                <a:spcPts val="3193"/>
              </a:lnSpc>
            </a:pPr>
            <a:r>
              <a:rPr lang="en-US" sz="3012" spc="240">
                <a:solidFill>
                  <a:srgbClr val="000000"/>
                </a:solidFill>
                <a:latin typeface="Fraunces"/>
                <a:ea typeface="Fraunces"/>
                <a:cs typeface="Fraunces"/>
                <a:sym typeface="Fraunces"/>
              </a:rPr>
              <a:t>- 99,956 sneaker sales transactions</a:t>
            </a:r>
          </a:p>
          <a:p>
            <a:pPr algn="l">
              <a:lnSpc>
                <a:spcPts val="3193"/>
              </a:lnSpc>
            </a:pPr>
            <a:r>
              <a:rPr lang="en-US" sz="3012" spc="240">
                <a:solidFill>
                  <a:srgbClr val="000000"/>
                </a:solidFill>
                <a:latin typeface="Fraunces"/>
                <a:ea typeface="Fraunces"/>
                <a:cs typeface="Fraunces"/>
                <a:sym typeface="Fraunces"/>
              </a:rPr>
              <a:t>- Time period: 2017-2019</a:t>
            </a:r>
          </a:p>
          <a:p>
            <a:pPr algn="l">
              <a:lnSpc>
                <a:spcPts val="3193"/>
              </a:lnSpc>
            </a:pPr>
            <a:endParaRPr lang="en-US" sz="3012" spc="240">
              <a:solidFill>
                <a:srgbClr val="000000"/>
              </a:solidFill>
              <a:latin typeface="Fraunces"/>
              <a:ea typeface="Fraunces"/>
              <a:cs typeface="Fraunces"/>
              <a:sym typeface="Fraunces"/>
            </a:endParaRPr>
          </a:p>
          <a:p>
            <a:pPr algn="l">
              <a:lnSpc>
                <a:spcPts val="3193"/>
              </a:lnSpc>
            </a:pPr>
            <a:endParaRPr lang="en-US" sz="3012" spc="240">
              <a:solidFill>
                <a:srgbClr val="000000"/>
              </a:solidFill>
              <a:latin typeface="Fraunces"/>
              <a:ea typeface="Fraunces"/>
              <a:cs typeface="Fraunces"/>
              <a:sym typeface="Fraunces"/>
            </a:endParaRPr>
          </a:p>
          <a:p>
            <a:pPr algn="l">
              <a:lnSpc>
                <a:spcPts val="3193"/>
              </a:lnSpc>
            </a:pPr>
            <a:endParaRPr lang="en-US" sz="3012" spc="240">
              <a:solidFill>
                <a:srgbClr val="000000"/>
              </a:solidFill>
              <a:latin typeface="Fraunces"/>
              <a:ea typeface="Fraunces"/>
              <a:cs typeface="Fraunces"/>
              <a:sym typeface="Fraunces"/>
            </a:endParaRPr>
          </a:p>
          <a:p>
            <a:pPr algn="l">
              <a:lnSpc>
                <a:spcPts val="3193"/>
              </a:lnSpc>
            </a:pPr>
            <a:r>
              <a:rPr lang="en-US" sz="3012" b="1" spc="240">
                <a:solidFill>
                  <a:srgbClr val="000000"/>
                </a:solidFill>
                <a:latin typeface="Fraunces Bold"/>
                <a:ea typeface="Fraunces Bold"/>
                <a:cs typeface="Fraunces Bold"/>
                <a:sym typeface="Fraunces Bold"/>
              </a:rPr>
              <a:t>ORIGINAL VARIABLES (8)</a:t>
            </a:r>
          </a:p>
          <a:p>
            <a:pPr algn="l">
              <a:lnSpc>
                <a:spcPts val="3193"/>
              </a:lnSpc>
            </a:pPr>
            <a:r>
              <a:rPr lang="en-US" sz="3012" spc="240">
                <a:solidFill>
                  <a:srgbClr val="000000"/>
                </a:solidFill>
                <a:latin typeface="Fraunces"/>
                <a:ea typeface="Fraunces"/>
                <a:cs typeface="Fraunces"/>
                <a:sym typeface="Fraunces"/>
              </a:rPr>
              <a:t>- Sale Price &amp; Retail Price</a:t>
            </a:r>
          </a:p>
          <a:p>
            <a:pPr algn="l">
              <a:lnSpc>
                <a:spcPts val="3193"/>
              </a:lnSpc>
            </a:pPr>
            <a:r>
              <a:rPr lang="en-US" sz="3012" spc="240">
                <a:solidFill>
                  <a:srgbClr val="000000"/>
                </a:solidFill>
                <a:latin typeface="Fraunces"/>
                <a:ea typeface="Fraunces"/>
                <a:cs typeface="Fraunces"/>
                <a:sym typeface="Fraunces"/>
              </a:rPr>
              <a:t>- Brand &amp; Sneaker Name</a:t>
            </a:r>
          </a:p>
          <a:p>
            <a:pPr algn="l">
              <a:lnSpc>
                <a:spcPts val="3193"/>
              </a:lnSpc>
            </a:pPr>
            <a:r>
              <a:rPr lang="en-US" sz="3012" spc="240">
                <a:solidFill>
                  <a:srgbClr val="000000"/>
                </a:solidFill>
                <a:latin typeface="Fraunces"/>
                <a:ea typeface="Fraunces"/>
                <a:cs typeface="Fraunces"/>
                <a:sym typeface="Fraunces"/>
              </a:rPr>
              <a:t>- Order Date &amp; Release Date</a:t>
            </a:r>
          </a:p>
          <a:p>
            <a:pPr algn="l">
              <a:lnSpc>
                <a:spcPts val="3193"/>
              </a:lnSpc>
              <a:spcBef>
                <a:spcPct val="0"/>
              </a:spcBef>
            </a:pPr>
            <a:r>
              <a:rPr lang="en-US" sz="3012" spc="240">
                <a:solidFill>
                  <a:srgbClr val="000000"/>
                </a:solidFill>
                <a:latin typeface="Fraunces"/>
                <a:ea typeface="Fraunces"/>
                <a:cs typeface="Fraunces"/>
                <a:sym typeface="Fraunces"/>
              </a:rPr>
              <a:t>- Shoe Size &amp; Buyer Region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4420200" y="1085850"/>
            <a:ext cx="2297757" cy="6873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202"/>
              </a:lnSpc>
              <a:spcBef>
                <a:spcPct val="0"/>
              </a:spcBef>
            </a:pPr>
            <a:r>
              <a:rPr lang="en-US" sz="4907" spc="392">
                <a:solidFill>
                  <a:srgbClr val="000000"/>
                </a:solidFill>
                <a:latin typeface="Fraunces"/>
                <a:ea typeface="Fraunces"/>
                <a:cs typeface="Fraunces"/>
                <a:sym typeface="Fraunces"/>
              </a:rPr>
              <a:t>99,956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4358771" y="2014330"/>
            <a:ext cx="2420615" cy="5612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26"/>
              </a:lnSpc>
            </a:pPr>
            <a:r>
              <a:rPr lang="en-US" sz="2100" spc="168">
                <a:solidFill>
                  <a:srgbClr val="000000"/>
                </a:solidFill>
                <a:latin typeface="Fraunces"/>
                <a:ea typeface="Fraunces"/>
                <a:cs typeface="Fraunces"/>
                <a:sym typeface="Fraunces"/>
              </a:rPr>
              <a:t>TOTAL  </a:t>
            </a:r>
          </a:p>
          <a:p>
            <a:pPr algn="l">
              <a:lnSpc>
                <a:spcPts val="2226"/>
              </a:lnSpc>
              <a:spcBef>
                <a:spcPct val="0"/>
              </a:spcBef>
            </a:pPr>
            <a:r>
              <a:rPr lang="en-US" sz="2100" spc="168">
                <a:solidFill>
                  <a:srgbClr val="000000"/>
                </a:solidFill>
                <a:latin typeface="Fraunces"/>
                <a:ea typeface="Fraunces"/>
                <a:cs typeface="Fraunces"/>
                <a:sym typeface="Fraunces"/>
              </a:rPr>
              <a:t>TRANSACTIONS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4614681" y="3186097"/>
            <a:ext cx="1908795" cy="6873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202"/>
              </a:lnSpc>
              <a:spcBef>
                <a:spcPct val="0"/>
              </a:spcBef>
            </a:pPr>
            <a:r>
              <a:rPr lang="en-US" sz="4907" spc="392">
                <a:solidFill>
                  <a:srgbClr val="000000"/>
                </a:solidFill>
                <a:latin typeface="Fraunces"/>
                <a:ea typeface="Fraunces"/>
                <a:cs typeface="Fraunces"/>
                <a:sym typeface="Fraunces"/>
              </a:rPr>
              <a:t>$ 209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4204287" y="4026671"/>
            <a:ext cx="2729582" cy="5612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26"/>
              </a:lnSpc>
            </a:pPr>
            <a:r>
              <a:rPr lang="en-US" sz="2100" spc="168">
                <a:solidFill>
                  <a:srgbClr val="000000"/>
                </a:solidFill>
                <a:latin typeface="Fraunces"/>
                <a:ea typeface="Fraunces"/>
                <a:cs typeface="Fraunces"/>
                <a:sym typeface="Fraunces"/>
              </a:rPr>
              <a:t>AVERAGE RETAIL </a:t>
            </a:r>
          </a:p>
          <a:p>
            <a:pPr algn="ctr">
              <a:lnSpc>
                <a:spcPts val="2226"/>
              </a:lnSpc>
              <a:spcBef>
                <a:spcPct val="0"/>
              </a:spcBef>
            </a:pPr>
            <a:r>
              <a:rPr lang="en-US" sz="2100" spc="168">
                <a:solidFill>
                  <a:srgbClr val="000000"/>
                </a:solidFill>
                <a:latin typeface="Fraunces"/>
                <a:ea typeface="Fraunces"/>
                <a:cs typeface="Fraunces"/>
                <a:sym typeface="Fraunces"/>
              </a:rPr>
              <a:t>PRICE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4732813" y="5286345"/>
            <a:ext cx="1795388" cy="6873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202"/>
              </a:lnSpc>
              <a:spcBef>
                <a:spcPct val="0"/>
              </a:spcBef>
            </a:pPr>
            <a:r>
              <a:rPr lang="en-US" sz="4907" spc="392">
                <a:solidFill>
                  <a:srgbClr val="000000"/>
                </a:solidFill>
                <a:latin typeface="Fraunces"/>
                <a:ea typeface="Fraunces"/>
                <a:cs typeface="Fraunces"/>
                <a:sym typeface="Fraunces"/>
              </a:rPr>
              <a:t>$ 447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4420200" y="6211804"/>
            <a:ext cx="2194471" cy="5612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26"/>
              </a:lnSpc>
            </a:pPr>
            <a:r>
              <a:rPr lang="en-US" sz="2100" spc="168">
                <a:solidFill>
                  <a:srgbClr val="000000"/>
                </a:solidFill>
                <a:latin typeface="Fraunces"/>
                <a:ea typeface="Fraunces"/>
                <a:cs typeface="Fraunces"/>
                <a:sym typeface="Fraunces"/>
              </a:rPr>
              <a:t>AVERAGE </a:t>
            </a:r>
          </a:p>
          <a:p>
            <a:pPr algn="ctr">
              <a:lnSpc>
                <a:spcPts val="2226"/>
              </a:lnSpc>
              <a:spcBef>
                <a:spcPct val="0"/>
              </a:spcBef>
            </a:pPr>
            <a:r>
              <a:rPr lang="en-US" sz="2100" spc="168">
                <a:solidFill>
                  <a:srgbClr val="000000"/>
                </a:solidFill>
                <a:latin typeface="Fraunces"/>
                <a:ea typeface="Fraunces"/>
                <a:cs typeface="Fraunces"/>
                <a:sym typeface="Fraunces"/>
              </a:rPr>
              <a:t>RESALE PRICE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4770876" y="7386592"/>
            <a:ext cx="1842120" cy="6873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202"/>
              </a:lnSpc>
              <a:spcBef>
                <a:spcPct val="0"/>
              </a:spcBef>
            </a:pPr>
            <a:r>
              <a:rPr lang="en-US" sz="4907" spc="392">
                <a:solidFill>
                  <a:srgbClr val="000000"/>
                </a:solidFill>
                <a:latin typeface="Fraunces"/>
                <a:ea typeface="Fraunces"/>
                <a:cs typeface="Fraunces"/>
                <a:sym typeface="Fraunces"/>
              </a:rPr>
              <a:t>213 %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4927629" y="8312052"/>
            <a:ext cx="1528614" cy="5612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26"/>
              </a:lnSpc>
            </a:pPr>
            <a:r>
              <a:rPr lang="en-US" sz="2100" spc="168">
                <a:solidFill>
                  <a:srgbClr val="000000"/>
                </a:solidFill>
                <a:latin typeface="Fraunces"/>
                <a:ea typeface="Fraunces"/>
                <a:cs typeface="Fraunces"/>
                <a:sym typeface="Fraunces"/>
              </a:rPr>
              <a:t>AVERAGE </a:t>
            </a:r>
          </a:p>
          <a:p>
            <a:pPr algn="ctr">
              <a:lnSpc>
                <a:spcPts val="2226"/>
              </a:lnSpc>
              <a:spcBef>
                <a:spcPct val="0"/>
              </a:spcBef>
            </a:pPr>
            <a:r>
              <a:rPr lang="en-US" sz="2100" spc="168">
                <a:solidFill>
                  <a:srgbClr val="000000"/>
                </a:solidFill>
                <a:latin typeface="Fraunces"/>
                <a:ea typeface="Fraunces"/>
                <a:cs typeface="Fraunces"/>
                <a:sym typeface="Fraunces"/>
              </a:rPr>
              <a:t>MARKUP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560025" y="1085850"/>
            <a:ext cx="10127950" cy="5683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354"/>
              </a:lnSpc>
              <a:spcBef>
                <a:spcPct val="0"/>
              </a:spcBef>
            </a:pPr>
            <a:r>
              <a:rPr lang="en-US" sz="4107" b="1" spc="328">
                <a:solidFill>
                  <a:srgbClr val="000000"/>
                </a:solidFill>
                <a:latin typeface="Fraunces Bold"/>
                <a:ea typeface="Fraunces Bold"/>
                <a:cs typeface="Fraunces Bold"/>
                <a:sym typeface="Fraunces Bold"/>
              </a:rPr>
              <a:t>DATA  SOURCE  AND  OVERVIEW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EDE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028700" y="2195576"/>
            <a:ext cx="7799981" cy="7062724"/>
          </a:xfrm>
          <a:custGeom>
            <a:avLst/>
            <a:gdLst/>
            <a:ahLst/>
            <a:cxnLst/>
            <a:rect l="l" t="t" r="r" b="b"/>
            <a:pathLst>
              <a:path w="7799981" h="7062724">
                <a:moveTo>
                  <a:pt x="0" y="0"/>
                </a:moveTo>
                <a:lnTo>
                  <a:pt x="7799981" y="0"/>
                </a:lnTo>
                <a:lnTo>
                  <a:pt x="7799981" y="7062724"/>
                </a:lnTo>
                <a:lnTo>
                  <a:pt x="0" y="706272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47434" t="-16531" r="-33366" b="-16501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9459319" y="2195576"/>
            <a:ext cx="7799981" cy="7062724"/>
          </a:xfrm>
          <a:custGeom>
            <a:avLst/>
            <a:gdLst/>
            <a:ahLst/>
            <a:cxnLst/>
            <a:rect l="l" t="t" r="r" b="b"/>
            <a:pathLst>
              <a:path w="7799981" h="7062724">
                <a:moveTo>
                  <a:pt x="0" y="0"/>
                </a:moveTo>
                <a:lnTo>
                  <a:pt x="7799981" y="0"/>
                </a:lnTo>
                <a:lnTo>
                  <a:pt x="7799981" y="7062724"/>
                </a:lnTo>
                <a:lnTo>
                  <a:pt x="0" y="706272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47434" t="-16531" r="-33366" b="-16501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>
            <a:off x="1028700" y="9466908"/>
            <a:ext cx="2747664" cy="523198"/>
          </a:xfrm>
          <a:custGeom>
            <a:avLst/>
            <a:gdLst/>
            <a:ahLst/>
            <a:cxnLst/>
            <a:rect l="l" t="t" r="r" b="b"/>
            <a:pathLst>
              <a:path w="2747664" h="523198">
                <a:moveTo>
                  <a:pt x="0" y="0"/>
                </a:moveTo>
                <a:lnTo>
                  <a:pt x="2747664" y="0"/>
                </a:lnTo>
                <a:lnTo>
                  <a:pt x="2747664" y="523198"/>
                </a:lnTo>
                <a:lnTo>
                  <a:pt x="0" y="52319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70833" t="-186294" r="-26029" b="-402515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Freeform 5"/>
          <p:cNvSpPr/>
          <p:nvPr/>
        </p:nvSpPr>
        <p:spPr>
          <a:xfrm>
            <a:off x="5270250" y="9466908"/>
            <a:ext cx="2747664" cy="523198"/>
          </a:xfrm>
          <a:custGeom>
            <a:avLst/>
            <a:gdLst/>
            <a:ahLst/>
            <a:cxnLst/>
            <a:rect l="l" t="t" r="r" b="b"/>
            <a:pathLst>
              <a:path w="2747664" h="523198">
                <a:moveTo>
                  <a:pt x="0" y="0"/>
                </a:moveTo>
                <a:lnTo>
                  <a:pt x="2747664" y="0"/>
                </a:lnTo>
                <a:lnTo>
                  <a:pt x="2747664" y="523198"/>
                </a:lnTo>
                <a:lnTo>
                  <a:pt x="0" y="52319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70833" t="-186294" r="-26029" b="-402515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Freeform 6"/>
          <p:cNvSpPr/>
          <p:nvPr/>
        </p:nvSpPr>
        <p:spPr>
          <a:xfrm>
            <a:off x="10037214" y="9466908"/>
            <a:ext cx="2747664" cy="523198"/>
          </a:xfrm>
          <a:custGeom>
            <a:avLst/>
            <a:gdLst/>
            <a:ahLst/>
            <a:cxnLst/>
            <a:rect l="l" t="t" r="r" b="b"/>
            <a:pathLst>
              <a:path w="2747664" h="523198">
                <a:moveTo>
                  <a:pt x="0" y="0"/>
                </a:moveTo>
                <a:lnTo>
                  <a:pt x="2747665" y="0"/>
                </a:lnTo>
                <a:lnTo>
                  <a:pt x="2747665" y="523198"/>
                </a:lnTo>
                <a:lnTo>
                  <a:pt x="0" y="52319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70833" t="-186294" r="-26029" b="-402515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Freeform 7"/>
          <p:cNvSpPr/>
          <p:nvPr/>
        </p:nvSpPr>
        <p:spPr>
          <a:xfrm>
            <a:off x="14511636" y="9466908"/>
            <a:ext cx="2747664" cy="523198"/>
          </a:xfrm>
          <a:custGeom>
            <a:avLst/>
            <a:gdLst/>
            <a:ahLst/>
            <a:cxnLst/>
            <a:rect l="l" t="t" r="r" b="b"/>
            <a:pathLst>
              <a:path w="2747664" h="523198">
                <a:moveTo>
                  <a:pt x="0" y="0"/>
                </a:moveTo>
                <a:lnTo>
                  <a:pt x="2747664" y="0"/>
                </a:lnTo>
                <a:lnTo>
                  <a:pt x="2747664" y="523198"/>
                </a:lnTo>
                <a:lnTo>
                  <a:pt x="0" y="52319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70833" t="-186294" r="-26029" b="-402515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Freeform 8"/>
          <p:cNvSpPr/>
          <p:nvPr/>
        </p:nvSpPr>
        <p:spPr>
          <a:xfrm>
            <a:off x="4253920" y="9560699"/>
            <a:ext cx="538775" cy="319008"/>
          </a:xfrm>
          <a:custGeom>
            <a:avLst/>
            <a:gdLst/>
            <a:ahLst/>
            <a:cxnLst/>
            <a:rect l="l" t="t" r="r" b="b"/>
            <a:pathLst>
              <a:path w="538775" h="319008">
                <a:moveTo>
                  <a:pt x="0" y="0"/>
                </a:moveTo>
                <a:lnTo>
                  <a:pt x="538775" y="0"/>
                </a:lnTo>
                <a:lnTo>
                  <a:pt x="538775" y="319008"/>
                </a:lnTo>
                <a:lnTo>
                  <a:pt x="0" y="31900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33510" b="-35380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9" name="TextBox 9"/>
          <p:cNvSpPr txBox="1"/>
          <p:nvPr/>
        </p:nvSpPr>
        <p:spPr>
          <a:xfrm>
            <a:off x="3201553" y="465709"/>
            <a:ext cx="11884893" cy="11926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64"/>
              </a:lnSpc>
            </a:pPr>
            <a:r>
              <a:rPr lang="en-US" sz="4400" b="1" spc="352">
                <a:solidFill>
                  <a:srgbClr val="000000"/>
                </a:solidFill>
                <a:latin typeface="Fraunces Bold"/>
                <a:ea typeface="Fraunces Bold"/>
                <a:cs typeface="Fraunces Bold"/>
                <a:sym typeface="Fraunces Bold"/>
              </a:rPr>
              <a:t>FEATURE ENGINEERING: </a:t>
            </a:r>
          </a:p>
          <a:p>
            <a:pPr algn="ctr">
              <a:lnSpc>
                <a:spcPts val="4664"/>
              </a:lnSpc>
              <a:spcBef>
                <a:spcPct val="0"/>
              </a:spcBef>
            </a:pPr>
            <a:r>
              <a:rPr lang="en-US" sz="4400" b="1" spc="352">
                <a:solidFill>
                  <a:srgbClr val="000000"/>
                </a:solidFill>
                <a:latin typeface="Fraunces Bold"/>
                <a:ea typeface="Fraunces Bold"/>
                <a:cs typeface="Fraunces Bold"/>
                <a:sym typeface="Fraunces Bold"/>
              </a:rPr>
              <a:t>CREATING PREDICTIVE VARIABLES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578895" y="2674246"/>
            <a:ext cx="6699590" cy="61530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89"/>
              </a:lnSpc>
            </a:pPr>
            <a:r>
              <a:rPr lang="en-US" sz="2820" b="1" spc="225">
                <a:solidFill>
                  <a:srgbClr val="000000"/>
                </a:solidFill>
                <a:latin typeface="Fraunces Bold"/>
                <a:ea typeface="Fraunces Bold"/>
                <a:cs typeface="Fraunces Bold"/>
                <a:sym typeface="Fraunces Bold"/>
              </a:rPr>
              <a:t>DATA CLEANING</a:t>
            </a:r>
          </a:p>
          <a:p>
            <a:pPr algn="ctr">
              <a:lnSpc>
                <a:spcPts val="2989"/>
              </a:lnSpc>
            </a:pPr>
            <a:endParaRPr lang="en-US" sz="2820" b="1" spc="225">
              <a:solidFill>
                <a:srgbClr val="000000"/>
              </a:solidFill>
              <a:latin typeface="Fraunces Bold"/>
              <a:ea typeface="Fraunces Bold"/>
              <a:cs typeface="Fraunces Bold"/>
              <a:sym typeface="Fraunces Bold"/>
            </a:endParaRPr>
          </a:p>
          <a:p>
            <a:pPr algn="l">
              <a:lnSpc>
                <a:spcPts val="2671"/>
              </a:lnSpc>
            </a:pPr>
            <a:r>
              <a:rPr lang="en-US" sz="2520" spc="201">
                <a:solidFill>
                  <a:srgbClr val="000000"/>
                </a:solidFill>
                <a:latin typeface="Fraunces"/>
                <a:ea typeface="Fraunces"/>
                <a:cs typeface="Fraunces"/>
                <a:sym typeface="Fraunces"/>
              </a:rPr>
              <a:t>- Removed $ signs and commas from prices</a:t>
            </a:r>
          </a:p>
          <a:p>
            <a:pPr algn="l">
              <a:lnSpc>
                <a:spcPts val="2671"/>
              </a:lnSpc>
            </a:pPr>
            <a:r>
              <a:rPr lang="en-US" sz="2520" spc="201">
                <a:solidFill>
                  <a:srgbClr val="000000"/>
                </a:solidFill>
                <a:latin typeface="Fraunces"/>
                <a:ea typeface="Fraunces"/>
                <a:cs typeface="Fraunces"/>
                <a:sym typeface="Fraunces"/>
              </a:rPr>
              <a:t>- Converted text dates to date format</a:t>
            </a:r>
          </a:p>
          <a:p>
            <a:pPr algn="l">
              <a:lnSpc>
                <a:spcPts val="2671"/>
              </a:lnSpc>
            </a:pPr>
            <a:r>
              <a:rPr lang="en-US" sz="2520" spc="201">
                <a:solidFill>
                  <a:srgbClr val="000000"/>
                </a:solidFill>
                <a:latin typeface="Fraunces"/>
                <a:ea typeface="Fraunces"/>
                <a:cs typeface="Fraunces"/>
                <a:sym typeface="Fraunces"/>
              </a:rPr>
              <a:t>- Handled missing values</a:t>
            </a:r>
          </a:p>
          <a:p>
            <a:pPr algn="l">
              <a:lnSpc>
                <a:spcPts val="2671"/>
              </a:lnSpc>
            </a:pPr>
            <a:r>
              <a:rPr lang="en-US" sz="2520" spc="201">
                <a:solidFill>
                  <a:srgbClr val="000000"/>
                </a:solidFill>
                <a:latin typeface="Fraunces"/>
                <a:ea typeface="Fraunces"/>
                <a:cs typeface="Fraunces"/>
                <a:sym typeface="Fraunces"/>
              </a:rPr>
              <a:t>- Result: Clean dataset ready for modeling</a:t>
            </a:r>
          </a:p>
          <a:p>
            <a:pPr algn="l">
              <a:lnSpc>
                <a:spcPts val="2671"/>
              </a:lnSpc>
            </a:pPr>
            <a:endParaRPr lang="en-US" sz="2520" spc="201">
              <a:solidFill>
                <a:srgbClr val="000000"/>
              </a:solidFill>
              <a:latin typeface="Fraunces"/>
              <a:ea typeface="Fraunces"/>
              <a:cs typeface="Fraunces"/>
              <a:sym typeface="Fraunces"/>
            </a:endParaRPr>
          </a:p>
          <a:p>
            <a:pPr algn="l">
              <a:lnSpc>
                <a:spcPts val="2671"/>
              </a:lnSpc>
            </a:pPr>
            <a:endParaRPr lang="en-US" sz="2520" spc="201">
              <a:solidFill>
                <a:srgbClr val="000000"/>
              </a:solidFill>
              <a:latin typeface="Fraunces"/>
              <a:ea typeface="Fraunces"/>
              <a:cs typeface="Fraunces"/>
              <a:sym typeface="Fraunces"/>
            </a:endParaRPr>
          </a:p>
          <a:p>
            <a:pPr algn="ctr">
              <a:lnSpc>
                <a:spcPts val="2989"/>
              </a:lnSpc>
            </a:pPr>
            <a:r>
              <a:rPr lang="en-US" sz="2820" b="1" spc="225">
                <a:solidFill>
                  <a:srgbClr val="000000"/>
                </a:solidFill>
                <a:latin typeface="Fraunces Bold"/>
                <a:ea typeface="Fraunces Bold"/>
                <a:cs typeface="Fraunces Bold"/>
                <a:sym typeface="Fraunces Bold"/>
              </a:rPr>
              <a:t>FROM 8 TO 17 VARIABLES</a:t>
            </a:r>
          </a:p>
          <a:p>
            <a:pPr algn="ctr">
              <a:lnSpc>
                <a:spcPts val="2989"/>
              </a:lnSpc>
            </a:pPr>
            <a:endParaRPr lang="en-US" sz="2820" b="1" spc="225">
              <a:solidFill>
                <a:srgbClr val="000000"/>
              </a:solidFill>
              <a:latin typeface="Fraunces Bold"/>
              <a:ea typeface="Fraunces Bold"/>
              <a:cs typeface="Fraunces Bold"/>
              <a:sym typeface="Fraunces Bold"/>
            </a:endParaRPr>
          </a:p>
          <a:p>
            <a:pPr algn="l">
              <a:lnSpc>
                <a:spcPts val="2671"/>
              </a:lnSpc>
            </a:pPr>
            <a:r>
              <a:rPr lang="en-US" sz="2520" spc="201">
                <a:solidFill>
                  <a:srgbClr val="000000"/>
                </a:solidFill>
                <a:latin typeface="Fraunces"/>
                <a:ea typeface="Fraunces"/>
                <a:cs typeface="Fraunces"/>
                <a:sym typeface="Fraunces"/>
              </a:rPr>
              <a:t>-Original: 8 variables</a:t>
            </a:r>
          </a:p>
          <a:p>
            <a:pPr algn="l">
              <a:lnSpc>
                <a:spcPts val="2671"/>
              </a:lnSpc>
            </a:pPr>
            <a:r>
              <a:rPr lang="en-US" sz="2520" spc="201">
                <a:solidFill>
                  <a:srgbClr val="000000"/>
                </a:solidFill>
                <a:latin typeface="Fraunces"/>
                <a:ea typeface="Fraunces"/>
                <a:cs typeface="Fraunces"/>
                <a:sym typeface="Fraunces"/>
              </a:rPr>
              <a:t>-Created: 9 new engineered features</a:t>
            </a:r>
          </a:p>
          <a:p>
            <a:pPr algn="l">
              <a:lnSpc>
                <a:spcPts val="2671"/>
              </a:lnSpc>
              <a:spcBef>
                <a:spcPct val="0"/>
              </a:spcBef>
            </a:pPr>
            <a:r>
              <a:rPr lang="en-US" sz="2520" spc="201">
                <a:solidFill>
                  <a:srgbClr val="000000"/>
                </a:solidFill>
                <a:latin typeface="Fraunces"/>
                <a:ea typeface="Fraunces"/>
                <a:cs typeface="Fraunces"/>
                <a:sym typeface="Fraunces"/>
              </a:rPr>
              <a:t>-Total: 17 variables for modeling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0017100" y="2545664"/>
            <a:ext cx="6684419" cy="64101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89"/>
              </a:lnSpc>
            </a:pPr>
            <a:r>
              <a:rPr lang="en-US" sz="2820" b="1" spc="225">
                <a:solidFill>
                  <a:srgbClr val="000000"/>
                </a:solidFill>
                <a:latin typeface="Fraunces Bold"/>
                <a:ea typeface="Fraunces Bold"/>
                <a:cs typeface="Fraunces Bold"/>
                <a:sym typeface="Fraunces Bold"/>
              </a:rPr>
              <a:t>NEW FEATURES CREATED</a:t>
            </a:r>
          </a:p>
          <a:p>
            <a:pPr algn="l">
              <a:lnSpc>
                <a:spcPts val="2968"/>
              </a:lnSpc>
            </a:pPr>
            <a:endParaRPr lang="en-US" sz="2820" b="1" spc="225">
              <a:solidFill>
                <a:srgbClr val="000000"/>
              </a:solidFill>
              <a:latin typeface="Fraunces Bold"/>
              <a:ea typeface="Fraunces Bold"/>
              <a:cs typeface="Fraunces Bold"/>
              <a:sym typeface="Fraunces Bold"/>
            </a:endParaRPr>
          </a:p>
          <a:p>
            <a:pPr algn="l">
              <a:lnSpc>
                <a:spcPts val="2671"/>
              </a:lnSpc>
            </a:pPr>
            <a:r>
              <a:rPr lang="en-US" sz="2520" b="1" spc="201">
                <a:solidFill>
                  <a:srgbClr val="000000"/>
                </a:solidFill>
                <a:latin typeface="Fraunces Bold"/>
                <a:ea typeface="Fraunces Bold"/>
                <a:cs typeface="Fraunces Bold"/>
                <a:sym typeface="Fraunces Bold"/>
              </a:rPr>
              <a:t>⏰ TIME-BASED</a:t>
            </a:r>
          </a:p>
          <a:p>
            <a:pPr algn="l">
              <a:lnSpc>
                <a:spcPts val="2671"/>
              </a:lnSpc>
            </a:pPr>
            <a:r>
              <a:rPr lang="en-US" sz="2520" spc="201">
                <a:solidFill>
                  <a:srgbClr val="000000"/>
                </a:solidFill>
                <a:latin typeface="Fraunces"/>
                <a:ea typeface="Fraunces"/>
                <a:cs typeface="Fraunces"/>
                <a:sym typeface="Fraunces"/>
              </a:rPr>
              <a:t>- Days Since Release (sneaker age)</a:t>
            </a:r>
          </a:p>
          <a:p>
            <a:pPr algn="l">
              <a:lnSpc>
                <a:spcPts val="2671"/>
              </a:lnSpc>
            </a:pPr>
            <a:r>
              <a:rPr lang="en-US" sz="2520" spc="201">
                <a:solidFill>
                  <a:srgbClr val="000000"/>
                </a:solidFill>
                <a:latin typeface="Fraunces"/>
                <a:ea typeface="Fraunces"/>
                <a:cs typeface="Fraunces"/>
                <a:sym typeface="Fraunces"/>
              </a:rPr>
              <a:t>- Release Year, Sale Year, Sale Month</a:t>
            </a:r>
          </a:p>
          <a:p>
            <a:pPr algn="l">
              <a:lnSpc>
                <a:spcPts val="2671"/>
              </a:lnSpc>
            </a:pPr>
            <a:endParaRPr lang="en-US" sz="2520" spc="201">
              <a:solidFill>
                <a:srgbClr val="000000"/>
              </a:solidFill>
              <a:latin typeface="Fraunces"/>
              <a:ea typeface="Fraunces"/>
              <a:cs typeface="Fraunces"/>
              <a:sym typeface="Fraunces"/>
            </a:endParaRPr>
          </a:p>
          <a:p>
            <a:pPr algn="l">
              <a:lnSpc>
                <a:spcPts val="2671"/>
              </a:lnSpc>
            </a:pPr>
            <a:r>
              <a:rPr lang="en-US" sz="2520" b="1" spc="201">
                <a:solidFill>
                  <a:srgbClr val="000000"/>
                </a:solidFill>
                <a:latin typeface="Fraunces Bold"/>
                <a:ea typeface="Fraunces Bold"/>
                <a:cs typeface="Fraunces Bold"/>
                <a:sym typeface="Fraunces Bold"/>
              </a:rPr>
              <a:t>💰 PRICE-BASED</a:t>
            </a:r>
          </a:p>
          <a:p>
            <a:pPr algn="l">
              <a:lnSpc>
                <a:spcPts val="2671"/>
              </a:lnSpc>
            </a:pPr>
            <a:r>
              <a:rPr lang="en-US" sz="2520" spc="201">
                <a:solidFill>
                  <a:srgbClr val="000000"/>
                </a:solidFill>
                <a:latin typeface="Fraunces"/>
                <a:ea typeface="Fraunces"/>
                <a:cs typeface="Fraunces"/>
                <a:sym typeface="Fraunces"/>
              </a:rPr>
              <a:t>- Markup in Dollars (profit)</a:t>
            </a:r>
          </a:p>
          <a:p>
            <a:pPr algn="l">
              <a:lnSpc>
                <a:spcPts val="2671"/>
              </a:lnSpc>
            </a:pPr>
            <a:r>
              <a:rPr lang="en-US" sz="2520" spc="201">
                <a:solidFill>
                  <a:srgbClr val="000000"/>
                </a:solidFill>
                <a:latin typeface="Fraunces"/>
                <a:ea typeface="Fraunces"/>
                <a:cs typeface="Fraunces"/>
                <a:sym typeface="Fraunces"/>
              </a:rPr>
              <a:t>- Log transformations (for regression)</a:t>
            </a:r>
          </a:p>
          <a:p>
            <a:pPr algn="l">
              <a:lnSpc>
                <a:spcPts val="2671"/>
              </a:lnSpc>
            </a:pPr>
            <a:endParaRPr lang="en-US" sz="2520" spc="201">
              <a:solidFill>
                <a:srgbClr val="000000"/>
              </a:solidFill>
              <a:latin typeface="Fraunces"/>
              <a:ea typeface="Fraunces"/>
              <a:cs typeface="Fraunces"/>
              <a:sym typeface="Fraunces"/>
            </a:endParaRPr>
          </a:p>
          <a:p>
            <a:pPr algn="l">
              <a:lnSpc>
                <a:spcPts val="2671"/>
              </a:lnSpc>
            </a:pPr>
            <a:r>
              <a:rPr lang="en-US" sz="2520" b="1" spc="201">
                <a:solidFill>
                  <a:srgbClr val="000000"/>
                </a:solidFill>
                <a:latin typeface="Fraunces Bold"/>
                <a:ea typeface="Fraunces Bold"/>
                <a:cs typeface="Fraunces Bold"/>
                <a:sym typeface="Fraunces Bold"/>
              </a:rPr>
              <a:t>🏷️ CATEGORICAL</a:t>
            </a:r>
          </a:p>
          <a:p>
            <a:pPr algn="l">
              <a:lnSpc>
                <a:spcPts val="2671"/>
              </a:lnSpc>
            </a:pPr>
            <a:r>
              <a:rPr lang="en-US" sz="2520" spc="201">
                <a:solidFill>
                  <a:srgbClr val="000000"/>
                </a:solidFill>
                <a:latin typeface="Fraunces"/>
                <a:ea typeface="Fraunces"/>
                <a:cs typeface="Fraunces"/>
                <a:sym typeface="Fraunces"/>
              </a:rPr>
              <a:t>- Is Premium Brand? (Yeezy/Off-White/Jordan)</a:t>
            </a:r>
          </a:p>
          <a:p>
            <a:pPr algn="l">
              <a:lnSpc>
                <a:spcPts val="2671"/>
              </a:lnSpc>
            </a:pPr>
            <a:r>
              <a:rPr lang="en-US" sz="2520" spc="201">
                <a:solidFill>
                  <a:srgbClr val="000000"/>
                </a:solidFill>
                <a:latin typeface="Fraunces"/>
                <a:ea typeface="Fraunces"/>
                <a:cs typeface="Fraunces"/>
                <a:sym typeface="Fraunces"/>
              </a:rPr>
              <a:t>- Price Category (Budget/Mid/Premium)</a:t>
            </a:r>
          </a:p>
          <a:p>
            <a:pPr algn="l">
              <a:lnSpc>
                <a:spcPts val="2671"/>
              </a:lnSpc>
              <a:spcBef>
                <a:spcPct val="0"/>
              </a:spcBef>
            </a:pPr>
            <a:r>
              <a:rPr lang="en-US" sz="2520" spc="201">
                <a:solidFill>
                  <a:srgbClr val="000000"/>
                </a:solidFill>
                <a:latin typeface="Fraunces"/>
                <a:ea typeface="Fraunces"/>
                <a:cs typeface="Fraunces"/>
                <a:sym typeface="Fraunces"/>
              </a:rPr>
              <a:t>- Above Retail? (Yes/No)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578895" y="9605883"/>
            <a:ext cx="1557858" cy="2738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28"/>
              </a:lnSpc>
              <a:spcBef>
                <a:spcPct val="0"/>
              </a:spcBef>
            </a:pPr>
            <a:r>
              <a:rPr lang="en-US" sz="2007" spc="160">
                <a:solidFill>
                  <a:srgbClr val="000000"/>
                </a:solidFill>
                <a:latin typeface="Fraunces"/>
                <a:ea typeface="Fraunces"/>
                <a:cs typeface="Fraunces"/>
                <a:sym typeface="Fraunces"/>
              </a:rPr>
              <a:t>RAW DATA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5832165" y="9605883"/>
            <a:ext cx="1534418" cy="2738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28"/>
              </a:lnSpc>
              <a:spcBef>
                <a:spcPct val="0"/>
              </a:spcBef>
            </a:pPr>
            <a:r>
              <a:rPr lang="en-US" sz="2007" spc="160">
                <a:solidFill>
                  <a:srgbClr val="000000"/>
                </a:solidFill>
                <a:latin typeface="Fraunces"/>
                <a:ea typeface="Fraunces"/>
                <a:cs typeface="Fraunces"/>
                <a:sym typeface="Fraunces"/>
              </a:rPr>
              <a:t>CLEANING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331596" y="9495483"/>
            <a:ext cx="2158901" cy="5405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28"/>
              </a:lnSpc>
            </a:pPr>
            <a:r>
              <a:rPr lang="en-US" sz="2007" spc="160">
                <a:solidFill>
                  <a:srgbClr val="000000"/>
                </a:solidFill>
                <a:latin typeface="Fraunces"/>
                <a:ea typeface="Fraunces"/>
                <a:cs typeface="Fraunces"/>
                <a:sym typeface="Fraunces"/>
              </a:rPr>
              <a:t>FEATURE </a:t>
            </a:r>
          </a:p>
          <a:p>
            <a:pPr algn="ctr">
              <a:lnSpc>
                <a:spcPts val="2128"/>
              </a:lnSpc>
              <a:spcBef>
                <a:spcPct val="0"/>
              </a:spcBef>
            </a:pPr>
            <a:r>
              <a:rPr lang="en-US" sz="2007" spc="160">
                <a:solidFill>
                  <a:srgbClr val="000000"/>
                </a:solidFill>
                <a:latin typeface="Fraunces"/>
                <a:ea typeface="Fraunces"/>
                <a:cs typeface="Fraunces"/>
                <a:sym typeface="Fraunces"/>
              </a:rPr>
              <a:t> ENGINEERING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5044068" y="9495483"/>
            <a:ext cx="1682800" cy="5405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28"/>
              </a:lnSpc>
            </a:pPr>
            <a:r>
              <a:rPr lang="en-US" sz="2007" spc="160">
                <a:solidFill>
                  <a:srgbClr val="000000"/>
                </a:solidFill>
                <a:latin typeface="Fraunces"/>
                <a:ea typeface="Fraunces"/>
                <a:cs typeface="Fraunces"/>
                <a:sym typeface="Fraunces"/>
              </a:rPr>
              <a:t>READY FOR</a:t>
            </a:r>
          </a:p>
          <a:p>
            <a:pPr algn="ctr">
              <a:lnSpc>
                <a:spcPts val="2128"/>
              </a:lnSpc>
              <a:spcBef>
                <a:spcPct val="0"/>
              </a:spcBef>
            </a:pPr>
            <a:r>
              <a:rPr lang="en-US" sz="2007" spc="160">
                <a:solidFill>
                  <a:srgbClr val="000000"/>
                </a:solidFill>
                <a:latin typeface="Fraunces"/>
                <a:ea typeface="Fraunces"/>
                <a:cs typeface="Fraunces"/>
                <a:sym typeface="Fraunces"/>
              </a:rPr>
              <a:t>MODELING</a:t>
            </a:r>
          </a:p>
        </p:txBody>
      </p:sp>
      <p:sp>
        <p:nvSpPr>
          <p:cNvPr id="16" name="Freeform 16"/>
          <p:cNvSpPr/>
          <p:nvPr/>
        </p:nvSpPr>
        <p:spPr>
          <a:xfrm>
            <a:off x="8758177" y="9591954"/>
            <a:ext cx="538775" cy="319008"/>
          </a:xfrm>
          <a:custGeom>
            <a:avLst/>
            <a:gdLst/>
            <a:ahLst/>
            <a:cxnLst/>
            <a:rect l="l" t="t" r="r" b="b"/>
            <a:pathLst>
              <a:path w="538775" h="319008">
                <a:moveTo>
                  <a:pt x="0" y="0"/>
                </a:moveTo>
                <a:lnTo>
                  <a:pt x="538775" y="0"/>
                </a:lnTo>
                <a:lnTo>
                  <a:pt x="538775" y="319007"/>
                </a:lnTo>
                <a:lnTo>
                  <a:pt x="0" y="31900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33510" b="-35380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7" name="Freeform 17"/>
          <p:cNvSpPr/>
          <p:nvPr/>
        </p:nvSpPr>
        <p:spPr>
          <a:xfrm>
            <a:off x="13378870" y="9569003"/>
            <a:ext cx="538775" cy="319008"/>
          </a:xfrm>
          <a:custGeom>
            <a:avLst/>
            <a:gdLst/>
            <a:ahLst/>
            <a:cxnLst/>
            <a:rect l="l" t="t" r="r" b="b"/>
            <a:pathLst>
              <a:path w="538775" h="319008">
                <a:moveTo>
                  <a:pt x="0" y="0"/>
                </a:moveTo>
                <a:lnTo>
                  <a:pt x="538775" y="0"/>
                </a:lnTo>
                <a:lnTo>
                  <a:pt x="538775" y="319008"/>
                </a:lnTo>
                <a:lnTo>
                  <a:pt x="0" y="31900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33510" b="-35380"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EDE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2233836" y="449061"/>
            <a:ext cx="13820329" cy="5796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60"/>
              </a:lnSpc>
              <a:spcBef>
                <a:spcPct val="0"/>
              </a:spcBef>
            </a:pPr>
            <a:r>
              <a:rPr lang="en-US" sz="4207" b="1" spc="336">
                <a:solidFill>
                  <a:srgbClr val="000000"/>
                </a:solidFill>
                <a:latin typeface="Fraunces Bold"/>
                <a:ea typeface="Fraunces Bold"/>
                <a:cs typeface="Fraunces Bold"/>
                <a:sym typeface="Fraunces Bold"/>
              </a:rPr>
              <a:t>METHODOLOGY: MULTI-MODEL APPROACH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028700" y="1464384"/>
            <a:ext cx="15286550" cy="12618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43"/>
              </a:lnSpc>
            </a:pPr>
            <a:r>
              <a:rPr lang="en-US" sz="2399" b="1" spc="191">
                <a:solidFill>
                  <a:srgbClr val="000000"/>
                </a:solidFill>
                <a:latin typeface="Fraunces Bold"/>
                <a:ea typeface="Fraunces Bold"/>
                <a:cs typeface="Fraunces Bold"/>
                <a:sym typeface="Fraunces Bold"/>
              </a:rPr>
              <a:t>WHY MULTIPLE MODELS?</a:t>
            </a:r>
          </a:p>
          <a:p>
            <a:pPr algn="l">
              <a:lnSpc>
                <a:spcPts val="2543"/>
              </a:lnSpc>
            </a:pPr>
            <a:r>
              <a:rPr lang="en-US" sz="2399" spc="191">
                <a:solidFill>
                  <a:srgbClr val="000000"/>
                </a:solidFill>
                <a:latin typeface="Fraunces"/>
                <a:ea typeface="Fraunces"/>
                <a:cs typeface="Fraunces"/>
                <a:sym typeface="Fraunces"/>
              </a:rPr>
              <a:t>- Compare different statistical techniques</a:t>
            </a:r>
          </a:p>
          <a:p>
            <a:pPr algn="l">
              <a:lnSpc>
                <a:spcPts val="2543"/>
              </a:lnSpc>
            </a:pPr>
            <a:r>
              <a:rPr lang="en-US" sz="2399" spc="191">
                <a:solidFill>
                  <a:srgbClr val="000000"/>
                </a:solidFill>
                <a:latin typeface="Fraunces"/>
                <a:ea typeface="Fraunces"/>
                <a:cs typeface="Fraunces"/>
                <a:sym typeface="Fraunces"/>
              </a:rPr>
              <a:t>- Identify best approach for price prediction</a:t>
            </a:r>
          </a:p>
          <a:p>
            <a:pPr algn="l">
              <a:lnSpc>
                <a:spcPts val="2543"/>
              </a:lnSpc>
              <a:spcBef>
                <a:spcPct val="0"/>
              </a:spcBef>
            </a:pPr>
            <a:r>
              <a:rPr lang="en-US" sz="2399" spc="191">
                <a:solidFill>
                  <a:srgbClr val="000000"/>
                </a:solidFill>
                <a:latin typeface="Fraunces"/>
                <a:ea typeface="Fraunces"/>
                <a:cs typeface="Fraunces"/>
                <a:sym typeface="Fraunces"/>
              </a:rPr>
              <a:t>- Validate findings across methods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028700" y="3507093"/>
            <a:ext cx="14628316" cy="57512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94"/>
              </a:lnSpc>
            </a:pPr>
            <a:r>
              <a:rPr lang="en-US" sz="3107" b="1" spc="248">
                <a:solidFill>
                  <a:srgbClr val="000000"/>
                </a:solidFill>
                <a:latin typeface="Fraunces Bold"/>
                <a:ea typeface="Fraunces Bold"/>
                <a:cs typeface="Fraunces Bold"/>
                <a:sym typeface="Fraunces Bold"/>
              </a:rPr>
              <a:t>MODEL 1: </a:t>
            </a:r>
            <a:r>
              <a:rPr lang="en-US" sz="3107" spc="248">
                <a:solidFill>
                  <a:srgbClr val="000000"/>
                </a:solidFill>
                <a:latin typeface="Fraunces"/>
                <a:ea typeface="Fraunces"/>
                <a:cs typeface="Fraunces"/>
                <a:sym typeface="Fraunces"/>
              </a:rPr>
              <a:t>LINEAR REGRESSION - SIMPLE</a:t>
            </a:r>
          </a:p>
          <a:p>
            <a:pPr algn="l">
              <a:lnSpc>
                <a:spcPts val="3294"/>
              </a:lnSpc>
            </a:pPr>
            <a:r>
              <a:rPr lang="en-US" sz="3107" spc="248">
                <a:solidFill>
                  <a:srgbClr val="000000"/>
                </a:solidFill>
                <a:latin typeface="Fraunces"/>
                <a:ea typeface="Fraunces"/>
                <a:cs typeface="Fraunces"/>
                <a:sym typeface="Fraunces"/>
              </a:rPr>
              <a:t>→ Baseline with 3 predictors: Retail Price, Brand, Age</a:t>
            </a:r>
          </a:p>
          <a:p>
            <a:pPr algn="l">
              <a:lnSpc>
                <a:spcPts val="3294"/>
              </a:lnSpc>
            </a:pPr>
            <a:endParaRPr lang="en-US" sz="3107" spc="248">
              <a:solidFill>
                <a:srgbClr val="000000"/>
              </a:solidFill>
              <a:latin typeface="Fraunces"/>
              <a:ea typeface="Fraunces"/>
              <a:cs typeface="Fraunces"/>
              <a:sym typeface="Fraunces"/>
            </a:endParaRPr>
          </a:p>
          <a:p>
            <a:pPr algn="l">
              <a:lnSpc>
                <a:spcPts val="3294"/>
              </a:lnSpc>
            </a:pPr>
            <a:r>
              <a:rPr lang="en-US" sz="3107" b="1" spc="248">
                <a:solidFill>
                  <a:srgbClr val="000000"/>
                </a:solidFill>
                <a:latin typeface="Fraunces Bold"/>
                <a:ea typeface="Fraunces Bold"/>
                <a:cs typeface="Fraunces Bold"/>
                <a:sym typeface="Fraunces Bold"/>
              </a:rPr>
              <a:t>MODEL 2:</a:t>
            </a:r>
            <a:r>
              <a:rPr lang="en-US" sz="3107" spc="248">
                <a:solidFill>
                  <a:srgbClr val="000000"/>
                </a:solidFill>
                <a:latin typeface="Fraunces"/>
                <a:ea typeface="Fraunces"/>
                <a:cs typeface="Fraunces"/>
                <a:sym typeface="Fraunces"/>
              </a:rPr>
              <a:t> Linear Regression - Full  </a:t>
            </a:r>
          </a:p>
          <a:p>
            <a:pPr algn="l">
              <a:lnSpc>
                <a:spcPts val="3294"/>
              </a:lnSpc>
            </a:pPr>
            <a:r>
              <a:rPr lang="en-US" sz="3107" spc="248">
                <a:solidFill>
                  <a:srgbClr val="000000"/>
                </a:solidFill>
                <a:latin typeface="Fraunces"/>
                <a:ea typeface="Fraunces"/>
                <a:cs typeface="Fraunces"/>
                <a:sym typeface="Fraunces"/>
              </a:rPr>
              <a:t>→ Added variables: Premium status, Month, Year, Region</a:t>
            </a:r>
          </a:p>
          <a:p>
            <a:pPr algn="l">
              <a:lnSpc>
                <a:spcPts val="3294"/>
              </a:lnSpc>
            </a:pPr>
            <a:endParaRPr lang="en-US" sz="3107" spc="248">
              <a:solidFill>
                <a:srgbClr val="000000"/>
              </a:solidFill>
              <a:latin typeface="Fraunces"/>
              <a:ea typeface="Fraunces"/>
              <a:cs typeface="Fraunces"/>
              <a:sym typeface="Fraunces"/>
            </a:endParaRPr>
          </a:p>
          <a:p>
            <a:pPr algn="l">
              <a:lnSpc>
                <a:spcPts val="3294"/>
              </a:lnSpc>
            </a:pPr>
            <a:r>
              <a:rPr lang="en-US" sz="3107" b="1" spc="248">
                <a:solidFill>
                  <a:srgbClr val="000000"/>
                </a:solidFill>
                <a:latin typeface="Fraunces Bold"/>
                <a:ea typeface="Fraunces Bold"/>
                <a:cs typeface="Fraunces Bold"/>
                <a:sym typeface="Fraunces Bold"/>
              </a:rPr>
              <a:t>MODEL 3:</a:t>
            </a:r>
            <a:r>
              <a:rPr lang="en-US" sz="3107" spc="248">
                <a:solidFill>
                  <a:srgbClr val="000000"/>
                </a:solidFill>
                <a:latin typeface="Fraunces"/>
                <a:ea typeface="Fraunces"/>
                <a:cs typeface="Fraunces"/>
                <a:sym typeface="Fraunces"/>
              </a:rPr>
              <a:t> Log-Transformed Regression</a:t>
            </a:r>
          </a:p>
          <a:p>
            <a:pPr algn="l">
              <a:lnSpc>
                <a:spcPts val="3294"/>
              </a:lnSpc>
            </a:pPr>
            <a:r>
              <a:rPr lang="en-US" sz="3107" spc="248">
                <a:solidFill>
                  <a:srgbClr val="000000"/>
                </a:solidFill>
                <a:latin typeface="Fraunces"/>
                <a:ea typeface="Fraunces"/>
                <a:cs typeface="Fraunces"/>
                <a:sym typeface="Fraunces"/>
              </a:rPr>
              <a:t>→ Log transformation of prices for better fit</a:t>
            </a:r>
          </a:p>
          <a:p>
            <a:pPr algn="l">
              <a:lnSpc>
                <a:spcPts val="3294"/>
              </a:lnSpc>
            </a:pPr>
            <a:endParaRPr lang="en-US" sz="3107" spc="248">
              <a:solidFill>
                <a:srgbClr val="000000"/>
              </a:solidFill>
              <a:latin typeface="Fraunces"/>
              <a:ea typeface="Fraunces"/>
              <a:cs typeface="Fraunces"/>
              <a:sym typeface="Fraunces"/>
            </a:endParaRPr>
          </a:p>
          <a:p>
            <a:pPr algn="l">
              <a:lnSpc>
                <a:spcPts val="3294"/>
              </a:lnSpc>
            </a:pPr>
            <a:r>
              <a:rPr lang="en-US" sz="3107" b="1" spc="248">
                <a:solidFill>
                  <a:srgbClr val="000000"/>
                </a:solidFill>
                <a:latin typeface="Fraunces Bold"/>
                <a:ea typeface="Fraunces Bold"/>
                <a:cs typeface="Fraunces Bold"/>
                <a:sym typeface="Fraunces Bold"/>
              </a:rPr>
              <a:t>MODEL 4:</a:t>
            </a:r>
            <a:r>
              <a:rPr lang="en-US" sz="3107" spc="248">
                <a:solidFill>
                  <a:srgbClr val="000000"/>
                </a:solidFill>
                <a:latin typeface="Fraunces"/>
                <a:ea typeface="Fraunces"/>
                <a:cs typeface="Fraunces"/>
                <a:sym typeface="Fraunces"/>
              </a:rPr>
              <a:t> Generalized Linear Model (GLM)</a:t>
            </a:r>
          </a:p>
          <a:p>
            <a:pPr algn="l">
              <a:lnSpc>
                <a:spcPts val="3294"/>
              </a:lnSpc>
            </a:pPr>
            <a:r>
              <a:rPr lang="en-US" sz="3107" spc="248">
                <a:solidFill>
                  <a:srgbClr val="000000"/>
                </a:solidFill>
                <a:latin typeface="Fraunces"/>
                <a:ea typeface="Fraunces"/>
                <a:cs typeface="Fraunces"/>
                <a:sym typeface="Fraunces"/>
              </a:rPr>
              <a:t>→ Flexible regression approach (gaussian family)</a:t>
            </a:r>
          </a:p>
          <a:p>
            <a:pPr algn="l">
              <a:lnSpc>
                <a:spcPts val="3294"/>
              </a:lnSpc>
            </a:pPr>
            <a:endParaRPr lang="en-US" sz="3107" spc="248">
              <a:solidFill>
                <a:srgbClr val="000000"/>
              </a:solidFill>
              <a:latin typeface="Fraunces"/>
              <a:ea typeface="Fraunces"/>
              <a:cs typeface="Fraunces"/>
              <a:sym typeface="Fraunces"/>
            </a:endParaRPr>
          </a:p>
          <a:p>
            <a:pPr algn="l">
              <a:lnSpc>
                <a:spcPts val="3294"/>
              </a:lnSpc>
            </a:pPr>
            <a:r>
              <a:rPr lang="en-US" sz="3107" b="1" spc="248">
                <a:solidFill>
                  <a:srgbClr val="000000"/>
                </a:solidFill>
                <a:latin typeface="Fraunces Bold"/>
                <a:ea typeface="Fraunces Bold"/>
                <a:cs typeface="Fraunces Bold"/>
                <a:sym typeface="Fraunces Bold"/>
              </a:rPr>
              <a:t>MODEL 5:</a:t>
            </a:r>
            <a:r>
              <a:rPr lang="en-US" sz="3107" spc="248">
                <a:solidFill>
                  <a:srgbClr val="000000"/>
                </a:solidFill>
                <a:latin typeface="Fraunces"/>
                <a:ea typeface="Fraunces"/>
                <a:cs typeface="Fraunces"/>
                <a:sym typeface="Fraunces"/>
              </a:rPr>
              <a:t> Decision Tree</a:t>
            </a:r>
          </a:p>
          <a:p>
            <a:pPr algn="l">
              <a:lnSpc>
                <a:spcPts val="3294"/>
              </a:lnSpc>
              <a:spcBef>
                <a:spcPct val="0"/>
              </a:spcBef>
            </a:pPr>
            <a:r>
              <a:rPr lang="en-US" sz="3107" spc="248">
                <a:solidFill>
                  <a:srgbClr val="000000"/>
                </a:solidFill>
                <a:latin typeface="Fraunces"/>
                <a:ea typeface="Fraunces"/>
                <a:cs typeface="Fraunces"/>
                <a:sym typeface="Fraunces"/>
              </a:rPr>
              <a:t>→ Non-linear, rule-based predictions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EDE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215699" y="1564912"/>
            <a:ext cx="11152689" cy="6551404"/>
          </a:xfrm>
          <a:custGeom>
            <a:avLst/>
            <a:gdLst/>
            <a:ahLst/>
            <a:cxnLst/>
            <a:rect l="l" t="t" r="r" b="b"/>
            <a:pathLst>
              <a:path w="11152689" h="6551404">
                <a:moveTo>
                  <a:pt x="0" y="0"/>
                </a:moveTo>
                <a:lnTo>
                  <a:pt x="11152689" y="0"/>
                </a:lnTo>
                <a:lnTo>
                  <a:pt x="11152689" y="6551404"/>
                </a:lnTo>
                <a:lnTo>
                  <a:pt x="0" y="655140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b="-2140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11743063" y="5766748"/>
            <a:ext cx="6091473" cy="2349568"/>
          </a:xfrm>
          <a:custGeom>
            <a:avLst/>
            <a:gdLst/>
            <a:ahLst/>
            <a:cxnLst/>
            <a:rect l="l" t="t" r="r" b="b"/>
            <a:pathLst>
              <a:path w="6091473" h="2349568">
                <a:moveTo>
                  <a:pt x="0" y="0"/>
                </a:moveTo>
                <a:lnTo>
                  <a:pt x="6091474" y="0"/>
                </a:lnTo>
                <a:lnTo>
                  <a:pt x="6091474" y="2349568"/>
                </a:lnTo>
                <a:lnTo>
                  <a:pt x="0" y="234956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70670" t="-109202" r="-72099" b="-105499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TextBox 4"/>
          <p:cNvSpPr txBox="1"/>
          <p:nvPr/>
        </p:nvSpPr>
        <p:spPr>
          <a:xfrm>
            <a:off x="1596107" y="449199"/>
            <a:ext cx="15095786" cy="5795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52"/>
              </a:lnSpc>
              <a:spcBef>
                <a:spcPct val="0"/>
              </a:spcBef>
            </a:pPr>
            <a:r>
              <a:rPr lang="en-US" sz="4200" b="1" spc="336">
                <a:solidFill>
                  <a:srgbClr val="000000"/>
                </a:solidFill>
                <a:latin typeface="Fraunces Bold"/>
                <a:ea typeface="Fraunces Bold"/>
                <a:cs typeface="Fraunces Bold"/>
                <a:sym typeface="Fraunces Bold"/>
              </a:rPr>
              <a:t>RESULTS: MODEL PERFORMANCE COMPARISON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1743063" y="1603012"/>
            <a:ext cx="6091473" cy="28326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55"/>
              </a:lnSpc>
            </a:pPr>
            <a:r>
              <a:rPr lang="en-US" sz="2599" b="1" spc="207">
                <a:solidFill>
                  <a:srgbClr val="000000"/>
                </a:solidFill>
                <a:latin typeface="Fraunces Bold"/>
                <a:ea typeface="Fraunces Bold"/>
                <a:cs typeface="Fraunces Bold"/>
                <a:sym typeface="Fraunces Bold"/>
              </a:rPr>
              <a:t>KEY FINDINGS</a:t>
            </a:r>
          </a:p>
          <a:p>
            <a:pPr algn="ctr">
              <a:lnSpc>
                <a:spcPts val="2226"/>
              </a:lnSpc>
            </a:pPr>
            <a:endParaRPr lang="en-US" sz="2599" b="1" spc="207">
              <a:solidFill>
                <a:srgbClr val="000000"/>
              </a:solidFill>
              <a:latin typeface="Fraunces Bold"/>
              <a:ea typeface="Fraunces Bold"/>
              <a:cs typeface="Fraunces Bold"/>
              <a:sym typeface="Fraunces Bold"/>
            </a:endParaRPr>
          </a:p>
          <a:p>
            <a:pPr algn="l">
              <a:lnSpc>
                <a:spcPts val="2226"/>
              </a:lnSpc>
            </a:pPr>
            <a:r>
              <a:rPr lang="en-US" sz="2100" b="1" spc="168">
                <a:solidFill>
                  <a:srgbClr val="000000"/>
                </a:solidFill>
                <a:latin typeface="Fraunces Bold"/>
                <a:ea typeface="Fraunces Bold"/>
                <a:cs typeface="Fraunces Bold"/>
                <a:sym typeface="Fraunces Bold"/>
              </a:rPr>
              <a:t>✓</a:t>
            </a:r>
            <a:r>
              <a:rPr lang="en-US" sz="2100" spc="168">
                <a:solidFill>
                  <a:srgbClr val="000000"/>
                </a:solidFill>
                <a:latin typeface="Fraunces"/>
                <a:ea typeface="Fraunces"/>
                <a:cs typeface="Fraunces"/>
                <a:sym typeface="Fraunces"/>
              </a:rPr>
              <a:t>  Decision Tree achieved highest</a:t>
            </a:r>
          </a:p>
          <a:p>
            <a:pPr algn="l">
              <a:lnSpc>
                <a:spcPts val="2226"/>
              </a:lnSpc>
            </a:pPr>
            <a:r>
              <a:rPr lang="en-US" sz="2100" spc="168">
                <a:solidFill>
                  <a:srgbClr val="000000"/>
                </a:solidFill>
                <a:latin typeface="Fraunces"/>
                <a:ea typeface="Fraunces"/>
                <a:cs typeface="Fraunces"/>
                <a:sym typeface="Fraunces"/>
              </a:rPr>
              <a:t>     accuracy (58% R²)</a:t>
            </a:r>
          </a:p>
          <a:p>
            <a:pPr algn="l">
              <a:lnSpc>
                <a:spcPts val="2226"/>
              </a:lnSpc>
            </a:pPr>
            <a:r>
              <a:rPr lang="en-US" sz="2100" b="1" spc="168">
                <a:solidFill>
                  <a:srgbClr val="000000"/>
                </a:solidFill>
                <a:latin typeface="Fraunces Bold"/>
                <a:ea typeface="Fraunces Bold"/>
                <a:cs typeface="Fraunces Bold"/>
                <a:sym typeface="Fraunces Bold"/>
              </a:rPr>
              <a:t>✓</a:t>
            </a:r>
            <a:r>
              <a:rPr lang="en-US" sz="2100" spc="168">
                <a:solidFill>
                  <a:srgbClr val="000000"/>
                </a:solidFill>
                <a:latin typeface="Fraunces"/>
                <a:ea typeface="Fraunces"/>
                <a:cs typeface="Fraunces"/>
                <a:sym typeface="Fraunces"/>
              </a:rPr>
              <a:t>  All models improved from</a:t>
            </a:r>
          </a:p>
          <a:p>
            <a:pPr algn="l">
              <a:lnSpc>
                <a:spcPts val="2226"/>
              </a:lnSpc>
            </a:pPr>
            <a:r>
              <a:rPr lang="en-US" sz="2100" spc="168">
                <a:solidFill>
                  <a:srgbClr val="000000"/>
                </a:solidFill>
                <a:latin typeface="Fraunces"/>
                <a:ea typeface="Fraunces"/>
                <a:cs typeface="Fraunces"/>
                <a:sym typeface="Fraunces"/>
              </a:rPr>
              <a:t>     simple to complex</a:t>
            </a:r>
          </a:p>
          <a:p>
            <a:pPr algn="l">
              <a:lnSpc>
                <a:spcPts val="2226"/>
              </a:lnSpc>
            </a:pPr>
            <a:r>
              <a:rPr lang="en-US" sz="2100" b="1" spc="168">
                <a:solidFill>
                  <a:srgbClr val="000000"/>
                </a:solidFill>
                <a:latin typeface="Fraunces Bold"/>
                <a:ea typeface="Fraunces Bold"/>
                <a:cs typeface="Fraunces Bold"/>
                <a:sym typeface="Fraunces Bold"/>
              </a:rPr>
              <a:t>✓</a:t>
            </a:r>
            <a:r>
              <a:rPr lang="en-US" sz="2100" spc="168">
                <a:solidFill>
                  <a:srgbClr val="000000"/>
                </a:solidFill>
                <a:latin typeface="Fraunces"/>
                <a:ea typeface="Fraunces"/>
                <a:cs typeface="Fraunces"/>
                <a:sym typeface="Fraunces"/>
              </a:rPr>
              <a:t>  Tree-based approach captured</a:t>
            </a:r>
          </a:p>
          <a:p>
            <a:pPr algn="l">
              <a:lnSpc>
                <a:spcPts val="2226"/>
              </a:lnSpc>
            </a:pPr>
            <a:r>
              <a:rPr lang="en-US" sz="2100" spc="168">
                <a:solidFill>
                  <a:srgbClr val="000000"/>
                </a:solidFill>
                <a:latin typeface="Fraunces"/>
                <a:ea typeface="Fraunces"/>
                <a:cs typeface="Fraunces"/>
                <a:sym typeface="Fraunces"/>
              </a:rPr>
              <a:t>     non-linear patterns</a:t>
            </a:r>
          </a:p>
          <a:p>
            <a:pPr algn="l">
              <a:lnSpc>
                <a:spcPts val="2226"/>
              </a:lnSpc>
            </a:pPr>
            <a:r>
              <a:rPr lang="en-US" sz="2100" b="1" spc="168">
                <a:solidFill>
                  <a:srgbClr val="000000"/>
                </a:solidFill>
                <a:latin typeface="Fraunces Bold"/>
                <a:ea typeface="Fraunces Bold"/>
                <a:cs typeface="Fraunces Bold"/>
                <a:sym typeface="Fraunces Bold"/>
              </a:rPr>
              <a:t>✓</a:t>
            </a:r>
            <a:r>
              <a:rPr lang="en-US" sz="2100" spc="168">
                <a:solidFill>
                  <a:srgbClr val="000000"/>
                </a:solidFill>
                <a:latin typeface="Fraunces"/>
                <a:ea typeface="Fraunces"/>
                <a:cs typeface="Fraunces"/>
                <a:sym typeface="Fraunces"/>
              </a:rPr>
              <a:t>  Lowest prediction error: $165</a:t>
            </a:r>
          </a:p>
          <a:p>
            <a:pPr algn="l">
              <a:lnSpc>
                <a:spcPts val="2226"/>
              </a:lnSpc>
              <a:spcBef>
                <a:spcPct val="0"/>
              </a:spcBef>
            </a:pPr>
            <a:r>
              <a:rPr lang="en-US" sz="2100" spc="168">
                <a:solidFill>
                  <a:srgbClr val="000000"/>
                </a:solidFill>
                <a:latin typeface="Fraunces"/>
                <a:ea typeface="Fraunces"/>
                <a:cs typeface="Fraunces"/>
                <a:sym typeface="Fraunces"/>
              </a:rPr>
              <a:t>     (Decision Tree)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EDE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613980" y="3207637"/>
            <a:ext cx="8896318" cy="6672239"/>
          </a:xfrm>
          <a:custGeom>
            <a:avLst/>
            <a:gdLst/>
            <a:ahLst/>
            <a:cxnLst/>
            <a:rect l="l" t="t" r="r" b="b"/>
            <a:pathLst>
              <a:path w="8896318" h="6672239">
                <a:moveTo>
                  <a:pt x="0" y="0"/>
                </a:moveTo>
                <a:lnTo>
                  <a:pt x="8896318" y="0"/>
                </a:lnTo>
                <a:lnTo>
                  <a:pt x="8896318" y="6672238"/>
                </a:lnTo>
                <a:lnTo>
                  <a:pt x="0" y="667223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TextBox 3"/>
          <p:cNvSpPr txBox="1"/>
          <p:nvPr/>
        </p:nvSpPr>
        <p:spPr>
          <a:xfrm>
            <a:off x="3020541" y="449199"/>
            <a:ext cx="12246918" cy="5795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52"/>
              </a:lnSpc>
              <a:spcBef>
                <a:spcPct val="0"/>
              </a:spcBef>
            </a:pPr>
            <a:r>
              <a:rPr lang="en-US" sz="4200" b="1" spc="336">
                <a:solidFill>
                  <a:srgbClr val="000000"/>
                </a:solidFill>
                <a:latin typeface="Fraunces Bold"/>
                <a:ea typeface="Fraunces Bold"/>
                <a:cs typeface="Fraunces Bold"/>
                <a:sym typeface="Fraunces Bold"/>
              </a:rPr>
              <a:t>BEST MODEL: DECISION TREE (58% R²)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9846669" y="3255262"/>
            <a:ext cx="7856533" cy="66246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95"/>
              </a:lnSpc>
            </a:pPr>
            <a:r>
              <a:rPr lang="en-US" sz="3014" b="1" spc="241">
                <a:solidFill>
                  <a:srgbClr val="000000"/>
                </a:solidFill>
                <a:latin typeface="Fraunces Bold"/>
                <a:ea typeface="Fraunces Bold"/>
                <a:cs typeface="Fraunces Bold"/>
                <a:sym typeface="Fraunces Bold"/>
              </a:rPr>
              <a:t>WHY DECISION TREE WON</a:t>
            </a:r>
          </a:p>
          <a:p>
            <a:pPr algn="ctr">
              <a:lnSpc>
                <a:spcPts val="2883"/>
              </a:lnSpc>
            </a:pPr>
            <a:endParaRPr lang="en-US" sz="3014" b="1" spc="241">
              <a:solidFill>
                <a:srgbClr val="000000"/>
              </a:solidFill>
              <a:latin typeface="Fraunces Bold"/>
              <a:ea typeface="Fraunces Bold"/>
              <a:cs typeface="Fraunces Bold"/>
              <a:sym typeface="Fraunces Bold"/>
            </a:endParaRPr>
          </a:p>
          <a:p>
            <a:pPr algn="l">
              <a:lnSpc>
                <a:spcPts val="2883"/>
              </a:lnSpc>
            </a:pPr>
            <a:r>
              <a:rPr lang="en-US" sz="2720" b="1" spc="217">
                <a:solidFill>
                  <a:srgbClr val="000000"/>
                </a:solidFill>
                <a:latin typeface="Fraunces Bold"/>
                <a:ea typeface="Fraunces Bold"/>
                <a:cs typeface="Fraunces Bold"/>
                <a:sym typeface="Fraunces Bold"/>
              </a:rPr>
              <a:t>✓</a:t>
            </a:r>
            <a:r>
              <a:rPr lang="en-US" sz="2720" spc="217">
                <a:solidFill>
                  <a:srgbClr val="000000"/>
                </a:solidFill>
                <a:latin typeface="Fraunces"/>
                <a:ea typeface="Fraunces"/>
                <a:cs typeface="Fraunces"/>
                <a:sym typeface="Fraunces"/>
              </a:rPr>
              <a:t>  Captured non-linear  </a:t>
            </a:r>
          </a:p>
          <a:p>
            <a:pPr algn="l">
              <a:lnSpc>
                <a:spcPts val="2883"/>
              </a:lnSpc>
            </a:pPr>
            <a:r>
              <a:rPr lang="en-US" sz="2720" spc="217">
                <a:solidFill>
                  <a:srgbClr val="000000"/>
                </a:solidFill>
                <a:latin typeface="Fraunces"/>
                <a:ea typeface="Fraunces"/>
                <a:cs typeface="Fraunces"/>
                <a:sym typeface="Fraunces"/>
              </a:rPr>
              <a:t>     relationships</a:t>
            </a:r>
          </a:p>
          <a:p>
            <a:pPr algn="l">
              <a:lnSpc>
                <a:spcPts val="2883"/>
              </a:lnSpc>
            </a:pPr>
            <a:r>
              <a:rPr lang="en-US" sz="2720" b="1" spc="217">
                <a:solidFill>
                  <a:srgbClr val="000000"/>
                </a:solidFill>
                <a:latin typeface="Fraunces Bold"/>
                <a:ea typeface="Fraunces Bold"/>
                <a:cs typeface="Fraunces Bold"/>
                <a:sym typeface="Fraunces Bold"/>
              </a:rPr>
              <a:t>✓</a:t>
            </a:r>
            <a:r>
              <a:rPr lang="en-US" sz="2720" spc="217">
                <a:solidFill>
                  <a:srgbClr val="000000"/>
                </a:solidFill>
                <a:latin typeface="Fraunces"/>
                <a:ea typeface="Fraunces"/>
                <a:cs typeface="Fraunces"/>
                <a:sym typeface="Fraunces"/>
              </a:rPr>
              <a:t>  Better handling of brand</a:t>
            </a:r>
          </a:p>
          <a:p>
            <a:pPr algn="l">
              <a:lnSpc>
                <a:spcPts val="2883"/>
              </a:lnSpc>
            </a:pPr>
            <a:r>
              <a:rPr lang="en-US" sz="2720" spc="217">
                <a:solidFill>
                  <a:srgbClr val="000000"/>
                </a:solidFill>
                <a:latin typeface="Fraunces"/>
                <a:ea typeface="Fraunces"/>
                <a:cs typeface="Fraunces"/>
                <a:sym typeface="Fraunces"/>
              </a:rPr>
              <a:t>     interactions  </a:t>
            </a:r>
          </a:p>
          <a:p>
            <a:pPr algn="l">
              <a:lnSpc>
                <a:spcPts val="2883"/>
              </a:lnSpc>
            </a:pPr>
            <a:r>
              <a:rPr lang="en-US" sz="2720" b="1" spc="217">
                <a:solidFill>
                  <a:srgbClr val="000000"/>
                </a:solidFill>
                <a:latin typeface="Fraunces Bold"/>
                <a:ea typeface="Fraunces Bold"/>
                <a:cs typeface="Fraunces Bold"/>
                <a:sym typeface="Fraunces Bold"/>
              </a:rPr>
              <a:t>✓</a:t>
            </a:r>
            <a:r>
              <a:rPr lang="en-US" sz="2720" spc="217">
                <a:solidFill>
                  <a:srgbClr val="000000"/>
                </a:solidFill>
                <a:latin typeface="Fraunces"/>
                <a:ea typeface="Fraunces"/>
                <a:cs typeface="Fraunces"/>
                <a:sym typeface="Fraunces"/>
              </a:rPr>
              <a:t>  Most flexible pattern</a:t>
            </a:r>
          </a:p>
          <a:p>
            <a:pPr algn="l">
              <a:lnSpc>
                <a:spcPts val="2883"/>
              </a:lnSpc>
            </a:pPr>
            <a:r>
              <a:rPr lang="en-US" sz="2720" spc="217">
                <a:solidFill>
                  <a:srgbClr val="000000"/>
                </a:solidFill>
                <a:latin typeface="Fraunces"/>
                <a:ea typeface="Fraunces"/>
                <a:cs typeface="Fraunces"/>
                <a:sym typeface="Fraunces"/>
              </a:rPr>
              <a:t>     recognition</a:t>
            </a:r>
          </a:p>
          <a:p>
            <a:pPr algn="l">
              <a:lnSpc>
                <a:spcPts val="2883"/>
              </a:lnSpc>
            </a:pPr>
            <a:r>
              <a:rPr lang="en-US" sz="2720" b="1" spc="217">
                <a:solidFill>
                  <a:srgbClr val="000000"/>
                </a:solidFill>
                <a:latin typeface="Fraunces Bold"/>
                <a:ea typeface="Fraunces Bold"/>
                <a:cs typeface="Fraunces Bold"/>
                <a:sym typeface="Fraunces Bold"/>
              </a:rPr>
              <a:t>✓  </a:t>
            </a:r>
            <a:r>
              <a:rPr lang="en-US" sz="2720" spc="217">
                <a:solidFill>
                  <a:srgbClr val="000000"/>
                </a:solidFill>
                <a:latin typeface="Fraunces"/>
                <a:ea typeface="Fraunces"/>
                <a:cs typeface="Fraunces"/>
                <a:sym typeface="Fraunces"/>
              </a:rPr>
              <a:t>Lowest prediction error ($165</a:t>
            </a:r>
          </a:p>
          <a:p>
            <a:pPr algn="l">
              <a:lnSpc>
                <a:spcPts val="2883"/>
              </a:lnSpc>
            </a:pPr>
            <a:r>
              <a:rPr lang="en-US" sz="2720" spc="217">
                <a:solidFill>
                  <a:srgbClr val="000000"/>
                </a:solidFill>
                <a:latin typeface="Fraunces"/>
                <a:ea typeface="Fraunces"/>
                <a:cs typeface="Fraunces"/>
                <a:sym typeface="Fraunces"/>
              </a:rPr>
              <a:t>    vs $213 baseline)</a:t>
            </a:r>
          </a:p>
          <a:p>
            <a:pPr algn="l">
              <a:lnSpc>
                <a:spcPts val="2883"/>
              </a:lnSpc>
            </a:pPr>
            <a:endParaRPr lang="en-US" sz="2720" spc="217">
              <a:solidFill>
                <a:srgbClr val="000000"/>
              </a:solidFill>
              <a:latin typeface="Fraunces"/>
              <a:ea typeface="Fraunces"/>
              <a:cs typeface="Fraunces"/>
              <a:sym typeface="Fraunces"/>
            </a:endParaRPr>
          </a:p>
          <a:p>
            <a:pPr algn="ctr">
              <a:lnSpc>
                <a:spcPts val="3195"/>
              </a:lnSpc>
            </a:pPr>
            <a:r>
              <a:rPr lang="en-US" sz="3014" b="1" spc="241">
                <a:solidFill>
                  <a:srgbClr val="000000"/>
                </a:solidFill>
                <a:latin typeface="Fraunces Bold"/>
                <a:ea typeface="Fraunces Bold"/>
                <a:cs typeface="Fraunces Bold"/>
                <a:sym typeface="Fraunces Bold"/>
              </a:rPr>
              <a:t>MODEL USES</a:t>
            </a:r>
          </a:p>
          <a:p>
            <a:pPr algn="ctr">
              <a:lnSpc>
                <a:spcPts val="2883"/>
              </a:lnSpc>
            </a:pPr>
            <a:endParaRPr lang="en-US" sz="3014" b="1" spc="241">
              <a:solidFill>
                <a:srgbClr val="000000"/>
              </a:solidFill>
              <a:latin typeface="Fraunces Bold"/>
              <a:ea typeface="Fraunces Bold"/>
              <a:cs typeface="Fraunces Bold"/>
              <a:sym typeface="Fraunces Bold"/>
            </a:endParaRPr>
          </a:p>
          <a:p>
            <a:pPr algn="l">
              <a:lnSpc>
                <a:spcPts val="2883"/>
              </a:lnSpc>
            </a:pPr>
            <a:r>
              <a:rPr lang="en-US" sz="2720" b="1" spc="217">
                <a:solidFill>
                  <a:srgbClr val="000000"/>
                </a:solidFill>
                <a:latin typeface="Fraunces Bold"/>
                <a:ea typeface="Fraunces Bold"/>
                <a:cs typeface="Fraunces Bold"/>
                <a:sym typeface="Fraunces Bold"/>
              </a:rPr>
              <a:t>-  </a:t>
            </a:r>
            <a:r>
              <a:rPr lang="en-US" sz="2720" spc="217">
                <a:solidFill>
                  <a:srgbClr val="000000"/>
                </a:solidFill>
                <a:latin typeface="Fraunces"/>
                <a:ea typeface="Fraunces"/>
                <a:cs typeface="Fraunces"/>
                <a:sym typeface="Fraunces"/>
              </a:rPr>
              <a:t>Retail Price, Brand, Days Since</a:t>
            </a:r>
          </a:p>
          <a:p>
            <a:pPr algn="l">
              <a:lnSpc>
                <a:spcPts val="2883"/>
              </a:lnSpc>
            </a:pPr>
            <a:r>
              <a:rPr lang="en-US" sz="2720" spc="217">
                <a:solidFill>
                  <a:srgbClr val="000000"/>
                </a:solidFill>
                <a:latin typeface="Fraunces"/>
                <a:ea typeface="Fraunces"/>
                <a:cs typeface="Fraunces"/>
                <a:sym typeface="Fraunces"/>
              </a:rPr>
              <a:t>    Release</a:t>
            </a:r>
          </a:p>
          <a:p>
            <a:pPr algn="l">
              <a:lnSpc>
                <a:spcPts val="2883"/>
              </a:lnSpc>
            </a:pPr>
            <a:r>
              <a:rPr lang="en-US" sz="2720" b="1" spc="217">
                <a:solidFill>
                  <a:srgbClr val="000000"/>
                </a:solidFill>
                <a:latin typeface="Fraunces Bold"/>
                <a:ea typeface="Fraunces Bold"/>
                <a:cs typeface="Fraunces Bold"/>
                <a:sym typeface="Fraunces Bold"/>
              </a:rPr>
              <a:t>-  </a:t>
            </a:r>
            <a:r>
              <a:rPr lang="en-US" sz="2720" spc="217">
                <a:solidFill>
                  <a:srgbClr val="000000"/>
                </a:solidFill>
                <a:latin typeface="Fraunces"/>
                <a:ea typeface="Fraunces"/>
                <a:cs typeface="Fraunces"/>
                <a:sym typeface="Fraunces"/>
              </a:rPr>
              <a:t>Sale Month, Release Year</a:t>
            </a:r>
          </a:p>
          <a:p>
            <a:pPr algn="l">
              <a:lnSpc>
                <a:spcPts val="2883"/>
              </a:lnSpc>
            </a:pPr>
            <a:r>
              <a:rPr lang="en-US" sz="2720" b="1" spc="217">
                <a:solidFill>
                  <a:srgbClr val="000000"/>
                </a:solidFill>
                <a:latin typeface="Fraunces Bold"/>
                <a:ea typeface="Fraunces Bold"/>
                <a:cs typeface="Fraunces Bold"/>
                <a:sym typeface="Fraunces Bold"/>
              </a:rPr>
              <a:t>-  </a:t>
            </a:r>
            <a:r>
              <a:rPr lang="en-US" sz="2720" spc="217">
                <a:solidFill>
                  <a:srgbClr val="000000"/>
                </a:solidFill>
                <a:latin typeface="Fraunces"/>
                <a:ea typeface="Fraunces"/>
                <a:cs typeface="Fraunces"/>
                <a:sym typeface="Fraunces"/>
              </a:rPr>
              <a:t>Makes sequential rule-based</a:t>
            </a:r>
          </a:p>
          <a:p>
            <a:pPr algn="l">
              <a:lnSpc>
                <a:spcPts val="2883"/>
              </a:lnSpc>
              <a:spcBef>
                <a:spcPct val="0"/>
              </a:spcBef>
            </a:pPr>
            <a:r>
              <a:rPr lang="en-US" sz="2720" spc="217">
                <a:solidFill>
                  <a:srgbClr val="000000"/>
                </a:solidFill>
                <a:latin typeface="Fraunces"/>
                <a:ea typeface="Fraunces"/>
                <a:cs typeface="Fraunces"/>
                <a:sym typeface="Fraunces"/>
              </a:rPr>
              <a:t>    decisions</a:t>
            </a:r>
          </a:p>
        </p:txBody>
      </p:sp>
      <p:grpSp>
        <p:nvGrpSpPr>
          <p:cNvPr id="5" name="Group 5"/>
          <p:cNvGrpSpPr/>
          <p:nvPr/>
        </p:nvGrpSpPr>
        <p:grpSpPr>
          <a:xfrm>
            <a:off x="2024673" y="1215900"/>
            <a:ext cx="1991737" cy="1991737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6BDB6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76200" y="104775"/>
              <a:ext cx="660400" cy="6318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26"/>
                </a:lnSpc>
              </a:pPr>
              <a:endParaRPr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2259806" y="1826832"/>
            <a:ext cx="1521470" cy="3849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73"/>
              </a:lnSpc>
              <a:spcBef>
                <a:spcPct val="0"/>
              </a:spcBef>
            </a:pPr>
            <a:r>
              <a:rPr lang="en-US" sz="2899" b="1" spc="231">
                <a:solidFill>
                  <a:srgbClr val="000000"/>
                </a:solidFill>
                <a:latin typeface="Fraunces Bold"/>
                <a:ea typeface="Fraunces Bold"/>
                <a:cs typeface="Fraunces Bold"/>
                <a:sym typeface="Fraunces Bold"/>
              </a:rPr>
              <a:t>[ 58% ]</a:t>
            </a:r>
            <a:r>
              <a:rPr lang="en-US" sz="2899" spc="231">
                <a:solidFill>
                  <a:srgbClr val="000000"/>
                </a:solidFill>
                <a:latin typeface="Fraunces"/>
                <a:ea typeface="Fraunces"/>
                <a:cs typeface="Fraunces"/>
                <a:sym typeface="Fraunces"/>
              </a:rPr>
              <a:t> 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2678125" y="2591021"/>
            <a:ext cx="684833" cy="339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49"/>
              </a:lnSpc>
              <a:spcBef>
                <a:spcPct val="0"/>
              </a:spcBef>
            </a:pPr>
            <a:r>
              <a:rPr lang="en-US" sz="2499" b="1" spc="199">
                <a:solidFill>
                  <a:srgbClr val="000000"/>
                </a:solidFill>
                <a:latin typeface="Fraunces Bold"/>
                <a:ea typeface="Fraunces Bold"/>
                <a:cs typeface="Fraunces Bold"/>
                <a:sym typeface="Fraunces Bold"/>
              </a:rPr>
              <a:t>R^2</a:t>
            </a:r>
          </a:p>
        </p:txBody>
      </p:sp>
      <p:grpSp>
        <p:nvGrpSpPr>
          <p:cNvPr id="10" name="Group 10"/>
          <p:cNvGrpSpPr/>
          <p:nvPr/>
        </p:nvGrpSpPr>
        <p:grpSpPr>
          <a:xfrm>
            <a:off x="8148132" y="1215900"/>
            <a:ext cx="1991737" cy="1991737"/>
            <a:chOff x="0" y="0"/>
            <a:chExt cx="812800" cy="8128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6BDB6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6200" y="104775"/>
              <a:ext cx="660400" cy="6318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26"/>
                </a:lnSpc>
              </a:pPr>
              <a:endParaRPr/>
            </a:p>
          </p:txBody>
        </p:sp>
      </p:grpSp>
      <p:sp>
        <p:nvSpPr>
          <p:cNvPr id="13" name="TextBox 13"/>
          <p:cNvSpPr txBox="1"/>
          <p:nvPr/>
        </p:nvSpPr>
        <p:spPr>
          <a:xfrm>
            <a:off x="8375005" y="1826832"/>
            <a:ext cx="1537990" cy="3849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73"/>
              </a:lnSpc>
              <a:spcBef>
                <a:spcPct val="0"/>
              </a:spcBef>
            </a:pPr>
            <a:r>
              <a:rPr lang="en-US" sz="2899" b="1" spc="231">
                <a:solidFill>
                  <a:srgbClr val="000000"/>
                </a:solidFill>
                <a:latin typeface="Fraunces Bold"/>
                <a:ea typeface="Fraunces Bold"/>
                <a:cs typeface="Fraunces Bold"/>
                <a:sym typeface="Fraunces Bold"/>
              </a:rPr>
              <a:t>[ $165 ]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8495012" y="2591021"/>
            <a:ext cx="1351657" cy="339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49"/>
              </a:lnSpc>
              <a:spcBef>
                <a:spcPct val="0"/>
              </a:spcBef>
            </a:pPr>
            <a:r>
              <a:rPr lang="en-US" sz="2499" b="1" spc="199">
                <a:solidFill>
                  <a:srgbClr val="000000"/>
                </a:solidFill>
                <a:latin typeface="Fraunces Bold"/>
                <a:ea typeface="Fraunces Bold"/>
                <a:cs typeface="Fraunces Bold"/>
                <a:sym typeface="Fraunces Bold"/>
              </a:rPr>
              <a:t>ERROR</a:t>
            </a:r>
          </a:p>
        </p:txBody>
      </p:sp>
      <p:grpSp>
        <p:nvGrpSpPr>
          <p:cNvPr id="15" name="Group 15"/>
          <p:cNvGrpSpPr/>
          <p:nvPr/>
        </p:nvGrpSpPr>
        <p:grpSpPr>
          <a:xfrm>
            <a:off x="14271591" y="1215900"/>
            <a:ext cx="1991737" cy="1991737"/>
            <a:chOff x="0" y="0"/>
            <a:chExt cx="812800" cy="81280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6BDB6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6200" y="104775"/>
              <a:ext cx="660400" cy="6318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26"/>
                </a:lnSpc>
              </a:pPr>
              <a:endParaRPr/>
            </a:p>
          </p:txBody>
        </p:sp>
      </p:grpSp>
      <p:sp>
        <p:nvSpPr>
          <p:cNvPr id="18" name="TextBox 18"/>
          <p:cNvSpPr txBox="1"/>
          <p:nvPr/>
        </p:nvSpPr>
        <p:spPr>
          <a:xfrm>
            <a:off x="14730918" y="1826832"/>
            <a:ext cx="1036588" cy="3849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73"/>
              </a:lnSpc>
              <a:spcBef>
                <a:spcPct val="0"/>
              </a:spcBef>
            </a:pPr>
            <a:r>
              <a:rPr lang="en-US" sz="2899" b="1" spc="231">
                <a:solidFill>
                  <a:srgbClr val="000000"/>
                </a:solidFill>
                <a:latin typeface="Fraunces Bold"/>
                <a:ea typeface="Fraunces Bold"/>
                <a:cs typeface="Fraunces Bold"/>
                <a:sym typeface="Fraunces Bold"/>
              </a:rPr>
              <a:t>[ #1 ]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4730918" y="2558890"/>
            <a:ext cx="1105495" cy="339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49"/>
              </a:lnSpc>
              <a:spcBef>
                <a:spcPct val="0"/>
              </a:spcBef>
            </a:pPr>
            <a:r>
              <a:rPr lang="en-US" sz="2499" b="1" spc="199">
                <a:solidFill>
                  <a:srgbClr val="000000"/>
                </a:solidFill>
                <a:latin typeface="Fraunces Bold"/>
                <a:ea typeface="Fraunces Bold"/>
                <a:cs typeface="Fraunces Bold"/>
                <a:sym typeface="Fraunces Bold"/>
              </a:rPr>
              <a:t>RANK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EDE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59780" y="481330"/>
            <a:ext cx="17168440" cy="5473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40"/>
              </a:lnSpc>
              <a:spcBef>
                <a:spcPct val="0"/>
              </a:spcBef>
            </a:pPr>
            <a:r>
              <a:rPr lang="en-US" sz="4000" b="1" spc="320">
                <a:solidFill>
                  <a:srgbClr val="000000"/>
                </a:solidFill>
                <a:latin typeface="Fraunces Bold"/>
                <a:ea typeface="Fraunces Bold"/>
                <a:cs typeface="Fraunces Bold"/>
                <a:sym typeface="Fraunces Bold"/>
              </a:rPr>
              <a:t>KEY INSIGHTS: WHAT DRIVES SNEAKER RESALE VALUE?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661068" y="1495330"/>
            <a:ext cx="16965865" cy="80073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52"/>
              </a:lnSpc>
            </a:pPr>
            <a:r>
              <a:rPr lang="en-US" sz="2502" spc="200">
                <a:solidFill>
                  <a:srgbClr val="000000"/>
                </a:solidFill>
                <a:latin typeface="Fraunces"/>
                <a:ea typeface="Fraunces"/>
                <a:cs typeface="Fraunces"/>
                <a:sym typeface="Fraunces"/>
              </a:rPr>
              <a:t>1️⃣</a:t>
            </a:r>
            <a:r>
              <a:rPr lang="en-US" sz="2502" b="1" spc="200">
                <a:solidFill>
                  <a:srgbClr val="000000"/>
                </a:solidFill>
                <a:latin typeface="Fraunces Bold"/>
                <a:ea typeface="Fraunces Bold"/>
                <a:cs typeface="Fraunces Bold"/>
                <a:sym typeface="Fraunces Bold"/>
              </a:rPr>
              <a:t> RETAIL PRICE 💰  - STRONGEST PREDICTOR</a:t>
            </a:r>
          </a:p>
          <a:p>
            <a:pPr algn="l">
              <a:lnSpc>
                <a:spcPts val="2652"/>
              </a:lnSpc>
            </a:pPr>
            <a:r>
              <a:rPr lang="en-US" sz="2502" spc="200">
                <a:solidFill>
                  <a:srgbClr val="000000"/>
                </a:solidFill>
                <a:latin typeface="Fraunces"/>
                <a:ea typeface="Fraunces"/>
                <a:cs typeface="Fraunces"/>
                <a:sym typeface="Fraunces"/>
              </a:rPr>
              <a:t>- Higher retail = Higher resale (4x multiplier effect)</a:t>
            </a:r>
          </a:p>
          <a:p>
            <a:pPr algn="l">
              <a:lnSpc>
                <a:spcPts val="2652"/>
              </a:lnSpc>
            </a:pPr>
            <a:r>
              <a:rPr lang="en-US" sz="2502" spc="200">
                <a:solidFill>
                  <a:srgbClr val="000000"/>
                </a:solidFill>
                <a:latin typeface="Fraunces"/>
                <a:ea typeface="Fraunces"/>
                <a:cs typeface="Fraunces"/>
                <a:sym typeface="Fraunces"/>
              </a:rPr>
              <a:t>- Premium positioning pays off</a:t>
            </a:r>
          </a:p>
          <a:p>
            <a:pPr algn="l">
              <a:lnSpc>
                <a:spcPts val="2652"/>
              </a:lnSpc>
            </a:pPr>
            <a:r>
              <a:rPr lang="en-US" sz="2502" spc="200">
                <a:solidFill>
                  <a:srgbClr val="000000"/>
                </a:solidFill>
                <a:latin typeface="Fraunces"/>
                <a:ea typeface="Fraunces"/>
                <a:cs typeface="Fraunces"/>
                <a:sym typeface="Fraunces"/>
              </a:rPr>
              <a:t>- Price signals quality and exclusivity</a:t>
            </a:r>
          </a:p>
          <a:p>
            <a:pPr algn="l">
              <a:lnSpc>
                <a:spcPts val="2652"/>
              </a:lnSpc>
            </a:pPr>
            <a:endParaRPr lang="en-US" sz="2502" spc="200">
              <a:solidFill>
                <a:srgbClr val="000000"/>
              </a:solidFill>
              <a:latin typeface="Fraunces"/>
              <a:ea typeface="Fraunces"/>
              <a:cs typeface="Fraunces"/>
              <a:sym typeface="Fraunces"/>
            </a:endParaRPr>
          </a:p>
          <a:p>
            <a:pPr algn="l">
              <a:lnSpc>
                <a:spcPts val="2652"/>
              </a:lnSpc>
            </a:pPr>
            <a:r>
              <a:rPr lang="en-US" sz="2502" b="1" spc="200">
                <a:solidFill>
                  <a:srgbClr val="000000"/>
                </a:solidFill>
                <a:latin typeface="Fraunces Bold"/>
                <a:ea typeface="Fraunces Bold"/>
                <a:cs typeface="Fraunces Bold"/>
                <a:sym typeface="Fraunces Bold"/>
              </a:rPr>
              <a:t>2️⃣ BRAND PREMIUM 👑  - Massive Impact</a:t>
            </a:r>
          </a:p>
          <a:p>
            <a:pPr algn="l">
              <a:lnSpc>
                <a:spcPts val="2652"/>
              </a:lnSpc>
            </a:pPr>
            <a:r>
              <a:rPr lang="en-US" sz="2502" spc="200">
                <a:solidFill>
                  <a:srgbClr val="000000"/>
                </a:solidFill>
                <a:latin typeface="Fraunces"/>
                <a:ea typeface="Fraunces"/>
                <a:cs typeface="Fraunces"/>
                <a:sym typeface="Fraunces"/>
              </a:rPr>
              <a:t>- Yeezy, Off-White, Jordan: 200-400% markups</a:t>
            </a:r>
          </a:p>
          <a:p>
            <a:pPr algn="l">
              <a:lnSpc>
                <a:spcPts val="2652"/>
              </a:lnSpc>
            </a:pPr>
            <a:r>
              <a:rPr lang="en-US" sz="2502" spc="200">
                <a:solidFill>
                  <a:srgbClr val="000000"/>
                </a:solidFill>
                <a:latin typeface="Fraunces"/>
                <a:ea typeface="Fraunces"/>
                <a:cs typeface="Fraunces"/>
                <a:sym typeface="Fraunces"/>
              </a:rPr>
              <a:t>- Nike/Adidas standard models: 50-100% markups</a:t>
            </a:r>
          </a:p>
          <a:p>
            <a:pPr algn="l">
              <a:lnSpc>
                <a:spcPts val="2652"/>
              </a:lnSpc>
            </a:pPr>
            <a:r>
              <a:rPr lang="en-US" sz="2502" spc="200">
                <a:solidFill>
                  <a:srgbClr val="000000"/>
                </a:solidFill>
                <a:latin typeface="Fraunces"/>
                <a:ea typeface="Fraunces"/>
                <a:cs typeface="Fraunces"/>
                <a:sym typeface="Fraunces"/>
              </a:rPr>
              <a:t>- Brand reputation = major value driver</a:t>
            </a:r>
          </a:p>
          <a:p>
            <a:pPr algn="l">
              <a:lnSpc>
                <a:spcPts val="2652"/>
              </a:lnSpc>
            </a:pPr>
            <a:r>
              <a:rPr lang="en-US" sz="2502" spc="200">
                <a:solidFill>
                  <a:srgbClr val="000000"/>
                </a:solidFill>
                <a:latin typeface="Fraunces"/>
                <a:ea typeface="Fraunces"/>
                <a:cs typeface="Fraunces"/>
                <a:sym typeface="Fraunces"/>
              </a:rPr>
              <a:t>- Collaborations command highest premiums</a:t>
            </a:r>
          </a:p>
          <a:p>
            <a:pPr algn="l">
              <a:lnSpc>
                <a:spcPts val="2652"/>
              </a:lnSpc>
            </a:pPr>
            <a:endParaRPr lang="en-US" sz="2502" spc="200">
              <a:solidFill>
                <a:srgbClr val="000000"/>
              </a:solidFill>
              <a:latin typeface="Fraunces"/>
              <a:ea typeface="Fraunces"/>
              <a:cs typeface="Fraunces"/>
              <a:sym typeface="Fraunces"/>
            </a:endParaRPr>
          </a:p>
          <a:p>
            <a:pPr algn="l">
              <a:lnSpc>
                <a:spcPts val="2652"/>
              </a:lnSpc>
            </a:pPr>
            <a:r>
              <a:rPr lang="en-US" sz="2502" b="1" spc="200">
                <a:solidFill>
                  <a:srgbClr val="000000"/>
                </a:solidFill>
                <a:latin typeface="Fraunces Bold"/>
                <a:ea typeface="Fraunces Bold"/>
                <a:cs typeface="Fraunces Bold"/>
                <a:sym typeface="Fraunces Bold"/>
              </a:rPr>
              <a:t>3️⃣ TIME EFFECTS ⏰  - Double-Edged Sword</a:t>
            </a:r>
          </a:p>
          <a:p>
            <a:pPr algn="l">
              <a:lnSpc>
                <a:spcPts val="2652"/>
              </a:lnSpc>
            </a:pPr>
            <a:r>
              <a:rPr lang="en-US" sz="2502" spc="200">
                <a:solidFill>
                  <a:srgbClr val="000000"/>
                </a:solidFill>
                <a:latin typeface="Fraunces"/>
                <a:ea typeface="Fraunces"/>
                <a:cs typeface="Fraunces"/>
                <a:sym typeface="Fraunces"/>
              </a:rPr>
              <a:t>- Newer releases: Lower immediate resale (high supply)</a:t>
            </a:r>
          </a:p>
          <a:p>
            <a:pPr algn="l">
              <a:lnSpc>
                <a:spcPts val="2652"/>
              </a:lnSpc>
            </a:pPr>
            <a:r>
              <a:rPr lang="en-US" sz="2502" spc="200">
                <a:solidFill>
                  <a:srgbClr val="000000"/>
                </a:solidFill>
                <a:latin typeface="Fraunces"/>
                <a:ea typeface="Fraunces"/>
                <a:cs typeface="Fraunces"/>
                <a:sym typeface="Fraunces"/>
              </a:rPr>
              <a:t>- Older releases: Higher value (scarcity effect)</a:t>
            </a:r>
          </a:p>
          <a:p>
            <a:pPr algn="l">
              <a:lnSpc>
                <a:spcPts val="2652"/>
              </a:lnSpc>
            </a:pPr>
            <a:r>
              <a:rPr lang="en-US" sz="2502" spc="200">
                <a:solidFill>
                  <a:srgbClr val="000000"/>
                </a:solidFill>
                <a:latin typeface="Fraunces"/>
                <a:ea typeface="Fraunces"/>
                <a:cs typeface="Fraunces"/>
                <a:sym typeface="Fraunces"/>
              </a:rPr>
              <a:t>- Sweet spot: 6-12 months after release</a:t>
            </a:r>
          </a:p>
          <a:p>
            <a:pPr algn="l">
              <a:lnSpc>
                <a:spcPts val="2652"/>
              </a:lnSpc>
            </a:pPr>
            <a:r>
              <a:rPr lang="en-US" sz="2502" spc="200">
                <a:solidFill>
                  <a:srgbClr val="000000"/>
                </a:solidFill>
                <a:latin typeface="Fraunces"/>
                <a:ea typeface="Fraunces"/>
                <a:cs typeface="Fraunces"/>
                <a:sym typeface="Fraunces"/>
              </a:rPr>
              <a:t>- Vintage factor increases with time</a:t>
            </a:r>
          </a:p>
          <a:p>
            <a:pPr algn="l">
              <a:lnSpc>
                <a:spcPts val="2652"/>
              </a:lnSpc>
            </a:pPr>
            <a:endParaRPr lang="en-US" sz="2502" spc="200">
              <a:solidFill>
                <a:srgbClr val="000000"/>
              </a:solidFill>
              <a:latin typeface="Fraunces"/>
              <a:ea typeface="Fraunces"/>
              <a:cs typeface="Fraunces"/>
              <a:sym typeface="Fraunces"/>
            </a:endParaRPr>
          </a:p>
          <a:p>
            <a:pPr algn="l">
              <a:lnSpc>
                <a:spcPts val="2652"/>
              </a:lnSpc>
            </a:pPr>
            <a:endParaRPr lang="en-US" sz="2502" spc="200">
              <a:solidFill>
                <a:srgbClr val="000000"/>
              </a:solidFill>
              <a:latin typeface="Fraunces"/>
              <a:ea typeface="Fraunces"/>
              <a:cs typeface="Fraunces"/>
              <a:sym typeface="Fraunces"/>
            </a:endParaRPr>
          </a:p>
          <a:p>
            <a:pPr algn="l">
              <a:lnSpc>
                <a:spcPts val="2652"/>
              </a:lnSpc>
            </a:pPr>
            <a:endParaRPr lang="en-US" sz="2502" spc="200">
              <a:solidFill>
                <a:srgbClr val="000000"/>
              </a:solidFill>
              <a:latin typeface="Fraunces"/>
              <a:ea typeface="Fraunces"/>
              <a:cs typeface="Fraunces"/>
              <a:sym typeface="Fraunces"/>
            </a:endParaRPr>
          </a:p>
          <a:p>
            <a:pPr algn="l">
              <a:lnSpc>
                <a:spcPts val="2652"/>
              </a:lnSpc>
            </a:pPr>
            <a:r>
              <a:rPr lang="en-US" sz="2502" b="1" spc="200">
                <a:solidFill>
                  <a:srgbClr val="000000"/>
                </a:solidFill>
                <a:latin typeface="Fraunces Bold"/>
                <a:ea typeface="Fraunces Bold"/>
                <a:cs typeface="Fraunces Bold"/>
                <a:sym typeface="Fraunces Bold"/>
              </a:rPr>
              <a:t>🎯 SURPRISING FINDING</a:t>
            </a:r>
          </a:p>
          <a:p>
            <a:pPr algn="ctr">
              <a:lnSpc>
                <a:spcPts val="2652"/>
              </a:lnSpc>
            </a:pPr>
            <a:endParaRPr lang="en-US" sz="2502" b="1" spc="200">
              <a:solidFill>
                <a:srgbClr val="000000"/>
              </a:solidFill>
              <a:latin typeface="Fraunces Bold"/>
              <a:ea typeface="Fraunces Bold"/>
              <a:cs typeface="Fraunces Bold"/>
              <a:sym typeface="Fraunces Bold"/>
            </a:endParaRPr>
          </a:p>
          <a:p>
            <a:pPr algn="l">
              <a:lnSpc>
                <a:spcPts val="2652"/>
              </a:lnSpc>
            </a:pPr>
            <a:r>
              <a:rPr lang="en-US" sz="2502" spc="200">
                <a:solidFill>
                  <a:srgbClr val="000000"/>
                </a:solidFill>
                <a:latin typeface="Fraunces"/>
                <a:ea typeface="Fraunces"/>
                <a:cs typeface="Fraunces"/>
                <a:sym typeface="Fraunces"/>
              </a:rPr>
              <a:t>Mid-range sneakers ($150-$220) perform BEST</a:t>
            </a:r>
          </a:p>
          <a:p>
            <a:pPr algn="l">
              <a:lnSpc>
                <a:spcPts val="2652"/>
              </a:lnSpc>
            </a:pPr>
            <a:r>
              <a:rPr lang="en-US" sz="2502" spc="200">
                <a:solidFill>
                  <a:srgbClr val="000000"/>
                </a:solidFill>
                <a:latin typeface="Fraunces"/>
                <a:ea typeface="Fraunces"/>
                <a:cs typeface="Fraunces"/>
                <a:sym typeface="Fraunces"/>
              </a:rPr>
              <a:t>→ Perfect balance: accessible yet premium</a:t>
            </a:r>
          </a:p>
          <a:p>
            <a:pPr algn="l">
              <a:lnSpc>
                <a:spcPts val="2652"/>
              </a:lnSpc>
              <a:spcBef>
                <a:spcPct val="0"/>
              </a:spcBef>
            </a:pPr>
            <a:r>
              <a:rPr lang="en-US" sz="2502" spc="200">
                <a:solidFill>
                  <a:srgbClr val="000000"/>
                </a:solidFill>
                <a:latin typeface="Fraunces"/>
                <a:ea typeface="Fraunces"/>
                <a:cs typeface="Fraunces"/>
                <a:sym typeface="Fraunces"/>
              </a:rPr>
              <a:t>→ Highest ROI for resellers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EDE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384064" y="449199"/>
            <a:ext cx="15519871" cy="5795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52"/>
              </a:lnSpc>
              <a:spcBef>
                <a:spcPct val="0"/>
              </a:spcBef>
            </a:pPr>
            <a:r>
              <a:rPr lang="en-US" sz="4200" b="1" spc="336">
                <a:solidFill>
                  <a:srgbClr val="000000"/>
                </a:solidFill>
                <a:latin typeface="Fraunces Bold"/>
                <a:ea typeface="Fraunces Bold"/>
                <a:cs typeface="Fraunces Bold"/>
                <a:sym typeface="Fraunces Bold"/>
              </a:rPr>
              <a:t>BUSINESS IMPLICATIONS &amp; RECOMMENDATIONS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738001" y="1512950"/>
            <a:ext cx="10735197" cy="55332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25"/>
              </a:lnSpc>
            </a:pPr>
            <a:r>
              <a:rPr lang="en-US" sz="2099" b="1" spc="167">
                <a:solidFill>
                  <a:srgbClr val="000000"/>
                </a:solidFill>
                <a:latin typeface="Fraunces Bold"/>
                <a:ea typeface="Fraunces Bold"/>
                <a:cs typeface="Fraunces Bold"/>
                <a:sym typeface="Fraunces Bold"/>
              </a:rPr>
              <a:t>👤 FOR CONSUMERS</a:t>
            </a:r>
          </a:p>
          <a:p>
            <a:pPr algn="l">
              <a:lnSpc>
                <a:spcPts val="2225"/>
              </a:lnSpc>
            </a:pPr>
            <a:r>
              <a:rPr lang="en-US" sz="2099" spc="167">
                <a:solidFill>
                  <a:srgbClr val="000000"/>
                </a:solidFill>
                <a:latin typeface="Fraunces"/>
                <a:ea typeface="Fraunces"/>
                <a:cs typeface="Fraunces"/>
                <a:sym typeface="Fraunces"/>
              </a:rPr>
              <a:t>Smart Buying Strategy</a:t>
            </a:r>
          </a:p>
          <a:p>
            <a:pPr algn="l">
              <a:lnSpc>
                <a:spcPts val="2225"/>
              </a:lnSpc>
            </a:pPr>
            <a:r>
              <a:rPr lang="en-US" sz="2099" spc="167">
                <a:solidFill>
                  <a:srgbClr val="000000"/>
                </a:solidFill>
                <a:latin typeface="Fraunces"/>
                <a:ea typeface="Fraunces"/>
                <a:cs typeface="Fraunces"/>
                <a:sym typeface="Fraunces"/>
              </a:rPr>
              <a:t>- Focus on limited releases from premium brands</a:t>
            </a:r>
          </a:p>
          <a:p>
            <a:pPr algn="l">
              <a:lnSpc>
                <a:spcPts val="2225"/>
              </a:lnSpc>
            </a:pPr>
            <a:r>
              <a:rPr lang="en-US" sz="2099" spc="167">
                <a:solidFill>
                  <a:srgbClr val="000000"/>
                </a:solidFill>
                <a:latin typeface="Fraunces"/>
                <a:ea typeface="Fraunces"/>
                <a:cs typeface="Fraunces"/>
                <a:sym typeface="Fraunces"/>
              </a:rPr>
              <a:t>- Target mid-range retail prices ($150-$220)</a:t>
            </a:r>
          </a:p>
          <a:p>
            <a:pPr algn="l">
              <a:lnSpc>
                <a:spcPts val="2225"/>
              </a:lnSpc>
            </a:pPr>
            <a:r>
              <a:rPr lang="en-US" sz="2099" spc="167">
                <a:solidFill>
                  <a:srgbClr val="000000"/>
                </a:solidFill>
                <a:latin typeface="Fraunces"/>
                <a:ea typeface="Fraunces"/>
                <a:cs typeface="Fraunces"/>
                <a:sym typeface="Fraunces"/>
              </a:rPr>
              <a:t>- Buy within first 6 months for best resale potential</a:t>
            </a:r>
          </a:p>
          <a:p>
            <a:pPr algn="l">
              <a:lnSpc>
                <a:spcPts val="2225"/>
              </a:lnSpc>
            </a:pPr>
            <a:r>
              <a:rPr lang="en-US" sz="2099" spc="167">
                <a:solidFill>
                  <a:srgbClr val="000000"/>
                </a:solidFill>
                <a:latin typeface="Fraunces"/>
                <a:ea typeface="Fraunces"/>
                <a:cs typeface="Fraunces"/>
                <a:sym typeface="Fraunces"/>
              </a:rPr>
              <a:t>- Decision Tree model = 58% prediction accuracy</a:t>
            </a:r>
          </a:p>
          <a:p>
            <a:pPr algn="l">
              <a:lnSpc>
                <a:spcPts val="2225"/>
              </a:lnSpc>
            </a:pPr>
            <a:endParaRPr lang="en-US" sz="2099" spc="167">
              <a:solidFill>
                <a:srgbClr val="000000"/>
              </a:solidFill>
              <a:latin typeface="Fraunces"/>
              <a:ea typeface="Fraunces"/>
              <a:cs typeface="Fraunces"/>
              <a:sym typeface="Fraunces"/>
            </a:endParaRPr>
          </a:p>
          <a:p>
            <a:pPr algn="l">
              <a:lnSpc>
                <a:spcPts val="2225"/>
              </a:lnSpc>
            </a:pPr>
            <a:r>
              <a:rPr lang="en-US" sz="2099" spc="167">
                <a:solidFill>
                  <a:srgbClr val="000000"/>
                </a:solidFill>
                <a:latin typeface="Fraunces"/>
                <a:ea typeface="Fraunces"/>
                <a:cs typeface="Fraunces"/>
                <a:sym typeface="Fraunces"/>
              </a:rPr>
              <a:t>💼 </a:t>
            </a:r>
            <a:r>
              <a:rPr lang="en-US" sz="2099" b="1" spc="167">
                <a:solidFill>
                  <a:srgbClr val="000000"/>
                </a:solidFill>
                <a:latin typeface="Fraunces Bold"/>
                <a:ea typeface="Fraunces Bold"/>
                <a:cs typeface="Fraunces Bold"/>
                <a:sym typeface="Fraunces Bold"/>
              </a:rPr>
              <a:t>FOR RESELLERS</a:t>
            </a:r>
          </a:p>
          <a:p>
            <a:pPr algn="l">
              <a:lnSpc>
                <a:spcPts val="2225"/>
              </a:lnSpc>
            </a:pPr>
            <a:r>
              <a:rPr lang="en-US" sz="2099" spc="167">
                <a:solidFill>
                  <a:srgbClr val="000000"/>
                </a:solidFill>
                <a:latin typeface="Fraunces"/>
                <a:ea typeface="Fraunces"/>
                <a:cs typeface="Fraunces"/>
                <a:sym typeface="Fraunces"/>
              </a:rPr>
              <a:t>Inventory Optimization</a:t>
            </a:r>
          </a:p>
          <a:p>
            <a:pPr algn="l">
              <a:lnSpc>
                <a:spcPts val="2225"/>
              </a:lnSpc>
            </a:pPr>
            <a:r>
              <a:rPr lang="en-US" sz="2099" spc="167">
                <a:solidFill>
                  <a:srgbClr val="000000"/>
                </a:solidFill>
                <a:latin typeface="Fraunces"/>
                <a:ea typeface="Fraunces"/>
                <a:cs typeface="Fraunces"/>
                <a:sym typeface="Fraunces"/>
              </a:rPr>
              <a:t>- Prioritize: Yeezy, Off-White, Jordan collaborations</a:t>
            </a:r>
          </a:p>
          <a:p>
            <a:pPr algn="l">
              <a:lnSpc>
                <a:spcPts val="2225"/>
              </a:lnSpc>
            </a:pPr>
            <a:r>
              <a:rPr lang="en-US" sz="2099" spc="167">
                <a:solidFill>
                  <a:srgbClr val="000000"/>
                </a:solidFill>
                <a:latin typeface="Fraunces"/>
                <a:ea typeface="Fraunces"/>
                <a:cs typeface="Fraunces"/>
                <a:sym typeface="Fraunces"/>
              </a:rPr>
              <a:t>- Sweet spot retail: $150-$220 range</a:t>
            </a:r>
          </a:p>
          <a:p>
            <a:pPr algn="l">
              <a:lnSpc>
                <a:spcPts val="2225"/>
              </a:lnSpc>
            </a:pPr>
            <a:r>
              <a:rPr lang="en-US" sz="2099" spc="167">
                <a:solidFill>
                  <a:srgbClr val="000000"/>
                </a:solidFill>
                <a:latin typeface="Fraunces"/>
                <a:ea typeface="Fraunces"/>
                <a:cs typeface="Fraunces"/>
                <a:sym typeface="Fraunces"/>
              </a:rPr>
              <a:t>- Hold inventory 6-12 months for optimal returns</a:t>
            </a:r>
          </a:p>
          <a:p>
            <a:pPr algn="l">
              <a:lnSpc>
                <a:spcPts val="2225"/>
              </a:lnSpc>
            </a:pPr>
            <a:r>
              <a:rPr lang="en-US" sz="2099" spc="167">
                <a:solidFill>
                  <a:srgbClr val="000000"/>
                </a:solidFill>
                <a:latin typeface="Fraunces"/>
                <a:ea typeface="Fraunces"/>
                <a:cs typeface="Fraunces"/>
                <a:sym typeface="Fraunces"/>
              </a:rPr>
              <a:t>- Predict resale value BEFORE purchasing</a:t>
            </a:r>
          </a:p>
          <a:p>
            <a:pPr algn="l">
              <a:lnSpc>
                <a:spcPts val="2225"/>
              </a:lnSpc>
            </a:pPr>
            <a:endParaRPr lang="en-US" sz="2099" spc="167">
              <a:solidFill>
                <a:srgbClr val="000000"/>
              </a:solidFill>
              <a:latin typeface="Fraunces"/>
              <a:ea typeface="Fraunces"/>
              <a:cs typeface="Fraunces"/>
              <a:sym typeface="Fraunces"/>
            </a:endParaRPr>
          </a:p>
          <a:p>
            <a:pPr algn="l">
              <a:lnSpc>
                <a:spcPts val="2225"/>
              </a:lnSpc>
            </a:pPr>
            <a:r>
              <a:rPr lang="en-US" sz="2099" spc="167">
                <a:solidFill>
                  <a:srgbClr val="000000"/>
                </a:solidFill>
                <a:latin typeface="Fraunces"/>
                <a:ea typeface="Fraunces"/>
                <a:cs typeface="Fraunces"/>
                <a:sym typeface="Fraunces"/>
              </a:rPr>
              <a:t>🏢 </a:t>
            </a:r>
            <a:r>
              <a:rPr lang="en-US" sz="2099" b="1" spc="167">
                <a:solidFill>
                  <a:srgbClr val="000000"/>
                </a:solidFill>
                <a:latin typeface="Fraunces Bold"/>
                <a:ea typeface="Fraunces Bold"/>
                <a:cs typeface="Fraunces Bold"/>
                <a:sym typeface="Fraunces Bold"/>
              </a:rPr>
              <a:t>FOR BRANDS</a:t>
            </a:r>
          </a:p>
          <a:p>
            <a:pPr algn="l">
              <a:lnSpc>
                <a:spcPts val="2225"/>
              </a:lnSpc>
            </a:pPr>
            <a:r>
              <a:rPr lang="en-US" sz="2099" spc="167">
                <a:solidFill>
                  <a:srgbClr val="000000"/>
                </a:solidFill>
                <a:latin typeface="Fraunces"/>
                <a:ea typeface="Fraunces"/>
                <a:cs typeface="Fraunces"/>
                <a:sym typeface="Fraunces"/>
              </a:rPr>
              <a:t>Strategic Insights</a:t>
            </a:r>
          </a:p>
          <a:p>
            <a:pPr algn="l">
              <a:lnSpc>
                <a:spcPts val="2225"/>
              </a:lnSpc>
            </a:pPr>
            <a:r>
              <a:rPr lang="en-US" sz="2099" spc="167">
                <a:solidFill>
                  <a:srgbClr val="000000"/>
                </a:solidFill>
                <a:latin typeface="Fraunces"/>
                <a:ea typeface="Fraunces"/>
                <a:cs typeface="Fraunces"/>
                <a:sym typeface="Fraunces"/>
              </a:rPr>
              <a:t>- Limited releases drive secondary market value</a:t>
            </a:r>
          </a:p>
          <a:p>
            <a:pPr algn="l">
              <a:lnSpc>
                <a:spcPts val="2225"/>
              </a:lnSpc>
            </a:pPr>
            <a:r>
              <a:rPr lang="en-US" sz="2099" spc="167">
                <a:solidFill>
                  <a:srgbClr val="000000"/>
                </a:solidFill>
                <a:latin typeface="Fraunces"/>
                <a:ea typeface="Fraunces"/>
                <a:cs typeface="Fraunces"/>
                <a:sym typeface="Fraunces"/>
              </a:rPr>
              <a:t>- Premium positioning justified by resale data</a:t>
            </a:r>
          </a:p>
          <a:p>
            <a:pPr algn="l">
              <a:lnSpc>
                <a:spcPts val="2225"/>
              </a:lnSpc>
            </a:pPr>
            <a:r>
              <a:rPr lang="en-US" sz="2099" spc="167">
                <a:solidFill>
                  <a:srgbClr val="000000"/>
                </a:solidFill>
                <a:latin typeface="Fraunces"/>
                <a:ea typeface="Fraunces"/>
                <a:cs typeface="Fraunces"/>
                <a:sym typeface="Fraunces"/>
              </a:rPr>
              <a:t>- Collaborations highly effective for brand value</a:t>
            </a:r>
          </a:p>
          <a:p>
            <a:pPr algn="l">
              <a:lnSpc>
                <a:spcPts val="2225"/>
              </a:lnSpc>
              <a:spcBef>
                <a:spcPct val="0"/>
              </a:spcBef>
            </a:pPr>
            <a:r>
              <a:rPr lang="en-US" sz="2099" spc="167">
                <a:solidFill>
                  <a:srgbClr val="000000"/>
                </a:solidFill>
                <a:latin typeface="Fraunces"/>
                <a:ea typeface="Fraunces"/>
                <a:cs typeface="Fraunces"/>
                <a:sym typeface="Fraunces"/>
              </a:rPr>
              <a:t>- Use model to inform pricing strategies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10741368" y="1829975"/>
            <a:ext cx="6517932" cy="3313525"/>
            <a:chOff x="0" y="0"/>
            <a:chExt cx="1716657" cy="872698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716657" cy="872698"/>
            </a:xfrm>
            <a:custGeom>
              <a:avLst/>
              <a:gdLst/>
              <a:ahLst/>
              <a:cxnLst/>
              <a:rect l="l" t="t" r="r" b="b"/>
              <a:pathLst>
                <a:path w="1716657" h="872698">
                  <a:moveTo>
                    <a:pt x="0" y="0"/>
                  </a:moveTo>
                  <a:lnTo>
                    <a:pt x="1716657" y="0"/>
                  </a:lnTo>
                  <a:lnTo>
                    <a:pt x="1716657" y="872698"/>
                  </a:lnTo>
                  <a:lnTo>
                    <a:pt x="0" y="872698"/>
                  </a:lnTo>
                  <a:close/>
                </a:path>
              </a:pathLst>
            </a:custGeom>
            <a:solidFill>
              <a:srgbClr val="082442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38100"/>
              <a:ext cx="1716657" cy="83459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49"/>
                </a:lnSpc>
              </a:pPr>
              <a:endParaRPr/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10831082" y="1858550"/>
            <a:ext cx="6338505" cy="31562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79"/>
              </a:lnSpc>
            </a:pPr>
            <a:endParaRPr/>
          </a:p>
          <a:p>
            <a:pPr algn="l">
              <a:lnSpc>
                <a:spcPts val="2479"/>
              </a:lnSpc>
            </a:pPr>
            <a:endParaRPr/>
          </a:p>
          <a:p>
            <a:pPr algn="l">
              <a:lnSpc>
                <a:spcPts val="2479"/>
              </a:lnSpc>
            </a:pPr>
            <a:r>
              <a:rPr lang="en-US" sz="2338" b="1" spc="187">
                <a:solidFill>
                  <a:srgbClr val="F6EDE5"/>
                </a:solidFill>
                <a:latin typeface="Fraunces Bold"/>
                <a:ea typeface="Fraunces Bold"/>
                <a:cs typeface="Fraunces Bold"/>
                <a:sym typeface="Fraunces Bold"/>
              </a:rPr>
              <a:t>DATA-DRIVEN DECISIONS IN </a:t>
            </a:r>
          </a:p>
          <a:p>
            <a:pPr algn="l">
              <a:lnSpc>
                <a:spcPts val="2479"/>
              </a:lnSpc>
            </a:pPr>
            <a:r>
              <a:rPr lang="en-US" sz="2338" b="1" spc="187">
                <a:solidFill>
                  <a:srgbClr val="F6EDE5"/>
                </a:solidFill>
                <a:latin typeface="Fraunces Bold"/>
                <a:ea typeface="Fraunces Bold"/>
                <a:cs typeface="Fraunces Bold"/>
                <a:sym typeface="Fraunces Bold"/>
              </a:rPr>
              <a:t>THE SNEAKER RESALE MARKET</a:t>
            </a:r>
          </a:p>
          <a:p>
            <a:pPr algn="l">
              <a:lnSpc>
                <a:spcPts val="2479"/>
              </a:lnSpc>
            </a:pPr>
            <a:endParaRPr lang="en-US" sz="2338" b="1" spc="187">
              <a:solidFill>
                <a:srgbClr val="F6EDE5"/>
              </a:solidFill>
              <a:latin typeface="Fraunces Bold"/>
              <a:ea typeface="Fraunces Bold"/>
              <a:cs typeface="Fraunces Bold"/>
              <a:sym typeface="Fraunces Bold"/>
            </a:endParaRPr>
          </a:p>
          <a:p>
            <a:pPr algn="l">
              <a:lnSpc>
                <a:spcPts val="2479"/>
              </a:lnSpc>
            </a:pPr>
            <a:r>
              <a:rPr lang="en-US" sz="2338" b="1" spc="187">
                <a:solidFill>
                  <a:srgbClr val="F6EDE5"/>
                </a:solidFill>
                <a:latin typeface="Fraunces Bold"/>
                <a:ea typeface="Fraunces Bold"/>
                <a:cs typeface="Fraunces Bold"/>
                <a:sym typeface="Fraunces Bold"/>
              </a:rPr>
              <a:t>                                           </a:t>
            </a:r>
          </a:p>
          <a:p>
            <a:pPr algn="just">
              <a:lnSpc>
                <a:spcPts val="2479"/>
              </a:lnSpc>
            </a:pPr>
            <a:r>
              <a:rPr lang="en-US" sz="2338" b="1" spc="187">
                <a:solidFill>
                  <a:srgbClr val="F6EDE5"/>
                </a:solidFill>
                <a:latin typeface="Fraunces Bold"/>
                <a:ea typeface="Fraunces Bold"/>
                <a:cs typeface="Fraunces Bold"/>
                <a:sym typeface="Fraunces Bold"/>
              </a:rPr>
              <a:t>  -  58%  Prediction  Accuracy            </a:t>
            </a:r>
          </a:p>
          <a:p>
            <a:pPr algn="just">
              <a:lnSpc>
                <a:spcPts val="2479"/>
              </a:lnSpc>
            </a:pPr>
            <a:r>
              <a:rPr lang="en-US" sz="2338" b="1" spc="187">
                <a:solidFill>
                  <a:srgbClr val="F6EDE5"/>
                </a:solidFill>
                <a:latin typeface="Fraunces Bold"/>
                <a:ea typeface="Fraunces Bold"/>
                <a:cs typeface="Fraunces Bold"/>
                <a:sym typeface="Fraunces Bold"/>
              </a:rPr>
              <a:t>  -  $165  Average  Error                 </a:t>
            </a:r>
          </a:p>
          <a:p>
            <a:pPr algn="just">
              <a:lnSpc>
                <a:spcPts val="2479"/>
              </a:lnSpc>
            </a:pPr>
            <a:r>
              <a:rPr lang="en-US" sz="2338" b="1" spc="187">
                <a:solidFill>
                  <a:srgbClr val="F6EDE5"/>
                </a:solidFill>
                <a:latin typeface="Fraunces Bold"/>
                <a:ea typeface="Fraunces Bold"/>
                <a:cs typeface="Fraunces Bold"/>
                <a:sym typeface="Fraunces Bold"/>
              </a:rPr>
              <a:t>  -  5  Models  Tested                    </a:t>
            </a:r>
          </a:p>
          <a:p>
            <a:pPr algn="just">
              <a:lnSpc>
                <a:spcPts val="2479"/>
              </a:lnSpc>
              <a:spcBef>
                <a:spcPct val="0"/>
              </a:spcBef>
            </a:pPr>
            <a:endParaRPr lang="en-US" sz="2338" b="1" spc="187">
              <a:solidFill>
                <a:srgbClr val="F6EDE5"/>
              </a:solidFill>
              <a:latin typeface="Fraunces Bold"/>
              <a:ea typeface="Fraunces Bold"/>
              <a:cs typeface="Fraunces Bold"/>
              <a:sym typeface="Fraunces Bold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738001" y="7865362"/>
            <a:ext cx="16431585" cy="19179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08"/>
              </a:lnSpc>
              <a:spcBef>
                <a:spcPct val="0"/>
              </a:spcBef>
            </a:pPr>
            <a:r>
              <a:rPr lang="en-US" sz="1800" spc="144">
                <a:solidFill>
                  <a:srgbClr val="000000"/>
                </a:solidFill>
                <a:latin typeface="Fraunces"/>
                <a:ea typeface="Fraunces"/>
                <a:cs typeface="Fraunces"/>
                <a:sym typeface="Fraunces"/>
              </a:rPr>
              <a:t>📊 </a:t>
            </a:r>
            <a:r>
              <a:rPr lang="en-US" sz="1800" b="1" spc="144">
                <a:solidFill>
                  <a:srgbClr val="000000"/>
                </a:solidFill>
                <a:latin typeface="Fraunces Bold"/>
                <a:ea typeface="Fraunces Bold"/>
                <a:cs typeface="Fraunces Bold"/>
                <a:sym typeface="Fraunces Bold"/>
              </a:rPr>
              <a:t>PRACTICAL TOOL</a:t>
            </a:r>
          </a:p>
          <a:p>
            <a:pPr algn="l">
              <a:lnSpc>
                <a:spcPts val="1908"/>
              </a:lnSpc>
              <a:spcBef>
                <a:spcPct val="0"/>
              </a:spcBef>
            </a:pPr>
            <a:r>
              <a:rPr lang="en-US" sz="1800" spc="144">
                <a:solidFill>
                  <a:srgbClr val="000000"/>
                </a:solidFill>
                <a:latin typeface="Fraunces"/>
                <a:ea typeface="Fraunces"/>
                <a:cs typeface="Fraunces"/>
                <a:sym typeface="Fraunces"/>
              </a:rPr>
              <a:t>THIS MODEL CAN BE DEPLOYED AS:</a:t>
            </a:r>
          </a:p>
          <a:p>
            <a:pPr algn="l">
              <a:lnSpc>
                <a:spcPts val="1908"/>
              </a:lnSpc>
              <a:spcBef>
                <a:spcPct val="0"/>
              </a:spcBef>
            </a:pPr>
            <a:r>
              <a:rPr lang="en-US" sz="1800" spc="144">
                <a:solidFill>
                  <a:srgbClr val="000000"/>
                </a:solidFill>
                <a:latin typeface="Fraunces"/>
                <a:ea typeface="Fraunces"/>
                <a:cs typeface="Fraunces"/>
                <a:sym typeface="Fraunces"/>
              </a:rPr>
              <a:t>→ REAL-TIME PRICING PREDICTION TOOL</a:t>
            </a:r>
          </a:p>
          <a:p>
            <a:pPr algn="l">
              <a:lnSpc>
                <a:spcPts val="1908"/>
              </a:lnSpc>
              <a:spcBef>
                <a:spcPct val="0"/>
              </a:spcBef>
            </a:pPr>
            <a:r>
              <a:rPr lang="en-US" sz="1800" spc="144">
                <a:solidFill>
                  <a:srgbClr val="000000"/>
                </a:solidFill>
                <a:latin typeface="Fraunces"/>
                <a:ea typeface="Fraunces"/>
                <a:cs typeface="Fraunces"/>
                <a:sym typeface="Fraunces"/>
              </a:rPr>
              <a:t>→ INVESTMENT DECISION SUPPORT SYSTEM</a:t>
            </a:r>
          </a:p>
          <a:p>
            <a:pPr algn="l">
              <a:lnSpc>
                <a:spcPts val="1908"/>
              </a:lnSpc>
              <a:spcBef>
                <a:spcPct val="0"/>
              </a:spcBef>
            </a:pPr>
            <a:r>
              <a:rPr lang="en-US" sz="1800" spc="144">
                <a:solidFill>
                  <a:srgbClr val="000000"/>
                </a:solidFill>
                <a:latin typeface="Fraunces"/>
                <a:ea typeface="Fraunces"/>
                <a:cs typeface="Fraunces"/>
                <a:sym typeface="Fraunces"/>
              </a:rPr>
              <a:t>→ MARKET ANALYTICS DASHBOARD</a:t>
            </a:r>
          </a:p>
          <a:p>
            <a:pPr algn="l">
              <a:lnSpc>
                <a:spcPts val="1908"/>
              </a:lnSpc>
              <a:spcBef>
                <a:spcPct val="0"/>
              </a:spcBef>
            </a:pPr>
            <a:endParaRPr lang="en-US" sz="1800" spc="144">
              <a:solidFill>
                <a:srgbClr val="000000"/>
              </a:solidFill>
              <a:latin typeface="Fraunces"/>
              <a:ea typeface="Fraunces"/>
              <a:cs typeface="Fraunces"/>
              <a:sym typeface="Fraunces"/>
            </a:endParaRPr>
          </a:p>
          <a:p>
            <a:pPr algn="l">
              <a:lnSpc>
                <a:spcPts val="1908"/>
              </a:lnSpc>
              <a:spcBef>
                <a:spcPct val="0"/>
              </a:spcBef>
            </a:pPr>
            <a:r>
              <a:rPr lang="en-US" sz="1800" b="1" spc="144">
                <a:solidFill>
                  <a:srgbClr val="000000"/>
                </a:solidFill>
                <a:latin typeface="Fraunces Bold"/>
                <a:ea typeface="Fraunces Bold"/>
                <a:cs typeface="Fraunces Bold"/>
                <a:sym typeface="Fraunces Bold"/>
              </a:rPr>
              <a:t>INPUT: NEW RELEASE DETAILS</a:t>
            </a:r>
          </a:p>
          <a:p>
            <a:pPr algn="l">
              <a:lnSpc>
                <a:spcPts val="1908"/>
              </a:lnSpc>
              <a:spcBef>
                <a:spcPct val="0"/>
              </a:spcBef>
            </a:pPr>
            <a:r>
              <a:rPr lang="en-US" sz="1800" b="1" spc="144">
                <a:solidFill>
                  <a:srgbClr val="000000"/>
                </a:solidFill>
                <a:latin typeface="Fraunces Bold"/>
                <a:ea typeface="Fraunces Bold"/>
                <a:cs typeface="Fraunces Bold"/>
                <a:sym typeface="Fraunces Bold"/>
              </a:rPr>
              <a:t>OUTPUT: PREDICTED RESALE VALUE + CONFIDENCE INTERVAL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EDE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776875" y="4258183"/>
            <a:ext cx="6734249" cy="8853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783"/>
              </a:lnSpc>
              <a:spcBef>
                <a:spcPct val="0"/>
              </a:spcBef>
            </a:pPr>
            <a:r>
              <a:rPr lang="en-US" sz="6399" b="1" spc="511">
                <a:solidFill>
                  <a:srgbClr val="000000"/>
                </a:solidFill>
                <a:latin typeface="Fraunces Bold"/>
                <a:ea typeface="Fraunces Bold"/>
                <a:cs typeface="Fraunces Bold"/>
                <a:sym typeface="Fraunces Bold"/>
              </a:rPr>
              <a:t>THANK YOU !!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890</Words>
  <Application>Microsoft Macintosh PowerPoint</Application>
  <PresentationFormat>Custom</PresentationFormat>
  <Paragraphs>225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Fraunces</vt:lpstr>
      <vt:lpstr>Fraunces Bold Italics</vt:lpstr>
      <vt:lpstr>Fraunces Bold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</dc:title>
  <cp:lastModifiedBy>Shailanshi Gupta</cp:lastModifiedBy>
  <cp:revision>2</cp:revision>
  <dcterms:created xsi:type="dcterms:W3CDTF">2006-08-16T00:00:00Z</dcterms:created>
  <dcterms:modified xsi:type="dcterms:W3CDTF">2025-12-03T10:08:12Z</dcterms:modified>
  <dc:identifier>DAG6bg2VTjc</dc:identifier>
</cp:coreProperties>
</file>