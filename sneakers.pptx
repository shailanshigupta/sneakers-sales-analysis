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 MT Bold" charset="1" panose="02030802070405020303"/>
      <p:regular r:id="rId17"/>
    </p:embeddedFont>
    <p:embeddedFont>
      <p:font typeface="Yeseva One" charset="1" panose="00000500000000000000"/>
      <p:regular r:id="rId18"/>
    </p:embeddedFont>
    <p:embeddedFont>
      <p:font typeface="Higuen Elegant Serif" charset="1" panose="00000000000000000000"/>
      <p:regular r:id="rId19"/>
    </p:embeddedFont>
    <p:embeddedFont>
      <p:font typeface="Times New Roman MT Bold Italics" charset="1" panose="02030802070405090303"/>
      <p:regular r:id="rId20"/>
    </p:embeddedFont>
    <p:embeddedFont>
      <p:font typeface="Times New Roman MT" charset="1" panose="02030502070405020303"/>
      <p:regular r:id="rId21"/>
    </p:embeddedFont>
    <p:embeddedFont>
      <p:font typeface="Times New Roman MT Medium" charset="1" panose="02030502070405020303"/>
      <p:regular r:id="rId22"/>
    </p:embeddedFont>
    <p:embeddedFont>
      <p:font typeface="Times New Roman MT Italics" charset="1" panose="02030502070405090303"/>
      <p:regular r:id="rId23"/>
    </p:embeddedFont>
    <p:embeddedFont>
      <p:font typeface="EB Garamond Semi-Bold Italic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7095" y="0"/>
            <a:ext cx="10680518" cy="10836707"/>
            <a:chOff x="0" y="0"/>
            <a:chExt cx="2952750" cy="2995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398" y="234"/>
              <a:ext cx="2952846" cy="2993459"/>
            </a:xfrm>
            <a:custGeom>
              <a:avLst/>
              <a:gdLst/>
              <a:ahLst/>
              <a:cxnLst/>
              <a:rect r="r" b="b" t="t" l="l"/>
              <a:pathLst>
                <a:path h="2993459" w="2952846">
                  <a:moveTo>
                    <a:pt x="2934098" y="11196"/>
                  </a:moveTo>
                  <a:lnTo>
                    <a:pt x="2923938" y="11196"/>
                  </a:lnTo>
                  <a:cubicBezTo>
                    <a:pt x="2682638" y="11196"/>
                    <a:pt x="2441338" y="13736"/>
                    <a:pt x="2201308" y="16276"/>
                  </a:cubicBezTo>
                  <a:cubicBezTo>
                    <a:pt x="1773318" y="21356"/>
                    <a:pt x="1344058" y="28976"/>
                    <a:pt x="916068" y="30246"/>
                  </a:cubicBezTo>
                  <a:cubicBezTo>
                    <a:pt x="749698" y="30246"/>
                    <a:pt x="583328" y="21356"/>
                    <a:pt x="416958" y="11196"/>
                  </a:cubicBezTo>
                  <a:cubicBezTo>
                    <a:pt x="279798" y="2306"/>
                    <a:pt x="140098" y="-5314"/>
                    <a:pt x="2938" y="4846"/>
                  </a:cubicBezTo>
                  <a:cubicBezTo>
                    <a:pt x="4208" y="205506"/>
                    <a:pt x="5478" y="406166"/>
                    <a:pt x="8018" y="605556"/>
                  </a:cubicBezTo>
                  <a:cubicBezTo>
                    <a:pt x="11828" y="1051326"/>
                    <a:pt x="18178" y="1497096"/>
                    <a:pt x="14368" y="1942866"/>
                  </a:cubicBezTo>
                  <a:cubicBezTo>
                    <a:pt x="13098" y="2163846"/>
                    <a:pt x="4208" y="2384826"/>
                    <a:pt x="398" y="2605806"/>
                  </a:cubicBezTo>
                  <a:cubicBezTo>
                    <a:pt x="-2142" y="2725186"/>
                    <a:pt x="8018" y="2844566"/>
                    <a:pt x="15638" y="2962676"/>
                  </a:cubicBezTo>
                  <a:cubicBezTo>
                    <a:pt x="75328" y="2957596"/>
                    <a:pt x="136288" y="2961406"/>
                    <a:pt x="194708" y="2966486"/>
                  </a:cubicBezTo>
                  <a:cubicBezTo>
                    <a:pt x="284878" y="2974106"/>
                    <a:pt x="373778" y="2982996"/>
                    <a:pt x="463948" y="2986806"/>
                  </a:cubicBezTo>
                  <a:cubicBezTo>
                    <a:pt x="880508" y="2999506"/>
                    <a:pt x="1298338" y="2991886"/>
                    <a:pt x="1714898" y="2981726"/>
                  </a:cubicBezTo>
                  <a:cubicBezTo>
                    <a:pt x="2125108" y="2970296"/>
                    <a:pt x="2536588" y="2957596"/>
                    <a:pt x="2948068" y="2956326"/>
                  </a:cubicBezTo>
                  <a:cubicBezTo>
                    <a:pt x="2940448" y="2788686"/>
                    <a:pt x="2931558" y="2621046"/>
                    <a:pt x="2926478" y="2452136"/>
                  </a:cubicBezTo>
                  <a:cubicBezTo>
                    <a:pt x="2913778" y="2029226"/>
                    <a:pt x="2931558" y="1607586"/>
                    <a:pt x="2942988" y="1184676"/>
                  </a:cubicBezTo>
                  <a:cubicBezTo>
                    <a:pt x="2954418" y="794786"/>
                    <a:pt x="2960768" y="402356"/>
                    <a:pt x="2934098" y="1119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679495" y="152400"/>
            <a:ext cx="10680518" cy="10836707"/>
            <a:chOff x="0" y="0"/>
            <a:chExt cx="2952750" cy="2995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98" y="234"/>
              <a:ext cx="2952846" cy="2993459"/>
            </a:xfrm>
            <a:custGeom>
              <a:avLst/>
              <a:gdLst/>
              <a:ahLst/>
              <a:cxnLst/>
              <a:rect r="r" b="b" t="t" l="l"/>
              <a:pathLst>
                <a:path h="2993459" w="2952846">
                  <a:moveTo>
                    <a:pt x="2934098" y="11196"/>
                  </a:moveTo>
                  <a:lnTo>
                    <a:pt x="2923938" y="11196"/>
                  </a:lnTo>
                  <a:cubicBezTo>
                    <a:pt x="2682638" y="11196"/>
                    <a:pt x="2441338" y="13736"/>
                    <a:pt x="2201308" y="16276"/>
                  </a:cubicBezTo>
                  <a:cubicBezTo>
                    <a:pt x="1773318" y="21356"/>
                    <a:pt x="1344058" y="28976"/>
                    <a:pt x="916068" y="30246"/>
                  </a:cubicBezTo>
                  <a:cubicBezTo>
                    <a:pt x="749698" y="30246"/>
                    <a:pt x="583328" y="21356"/>
                    <a:pt x="416958" y="11196"/>
                  </a:cubicBezTo>
                  <a:cubicBezTo>
                    <a:pt x="279798" y="2306"/>
                    <a:pt x="140098" y="-5314"/>
                    <a:pt x="2938" y="4846"/>
                  </a:cubicBezTo>
                  <a:cubicBezTo>
                    <a:pt x="4208" y="205506"/>
                    <a:pt x="5478" y="406166"/>
                    <a:pt x="8018" y="605556"/>
                  </a:cubicBezTo>
                  <a:cubicBezTo>
                    <a:pt x="11828" y="1051326"/>
                    <a:pt x="18178" y="1497096"/>
                    <a:pt x="14368" y="1942866"/>
                  </a:cubicBezTo>
                  <a:cubicBezTo>
                    <a:pt x="13098" y="2163846"/>
                    <a:pt x="4208" y="2384826"/>
                    <a:pt x="398" y="2605806"/>
                  </a:cubicBezTo>
                  <a:cubicBezTo>
                    <a:pt x="-2142" y="2725186"/>
                    <a:pt x="8018" y="2844566"/>
                    <a:pt x="15638" y="2962676"/>
                  </a:cubicBezTo>
                  <a:cubicBezTo>
                    <a:pt x="75328" y="2957596"/>
                    <a:pt x="136288" y="2961406"/>
                    <a:pt x="194708" y="2966486"/>
                  </a:cubicBezTo>
                  <a:cubicBezTo>
                    <a:pt x="284878" y="2974106"/>
                    <a:pt x="373778" y="2982996"/>
                    <a:pt x="463948" y="2986806"/>
                  </a:cubicBezTo>
                  <a:cubicBezTo>
                    <a:pt x="880508" y="2999506"/>
                    <a:pt x="1298338" y="2991886"/>
                    <a:pt x="1714898" y="2981726"/>
                  </a:cubicBezTo>
                  <a:cubicBezTo>
                    <a:pt x="2125108" y="2970296"/>
                    <a:pt x="2536588" y="2957596"/>
                    <a:pt x="2948068" y="2956326"/>
                  </a:cubicBezTo>
                  <a:cubicBezTo>
                    <a:pt x="2940448" y="2788686"/>
                    <a:pt x="2931558" y="2621046"/>
                    <a:pt x="2926478" y="2452136"/>
                  </a:cubicBezTo>
                  <a:cubicBezTo>
                    <a:pt x="2913778" y="2029226"/>
                    <a:pt x="2931558" y="1607586"/>
                    <a:pt x="2942988" y="1184676"/>
                  </a:cubicBezTo>
                  <a:cubicBezTo>
                    <a:pt x="2954418" y="794786"/>
                    <a:pt x="2960768" y="402356"/>
                    <a:pt x="2934098" y="1119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527095" y="0"/>
            <a:ext cx="10680518" cy="10836707"/>
            <a:chOff x="0" y="0"/>
            <a:chExt cx="2952750" cy="29959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98" y="234"/>
              <a:ext cx="2952846" cy="2993459"/>
            </a:xfrm>
            <a:custGeom>
              <a:avLst/>
              <a:gdLst/>
              <a:ahLst/>
              <a:cxnLst/>
              <a:rect r="r" b="b" t="t" l="l"/>
              <a:pathLst>
                <a:path h="2993459" w="2952846">
                  <a:moveTo>
                    <a:pt x="2934098" y="11196"/>
                  </a:moveTo>
                  <a:lnTo>
                    <a:pt x="2923938" y="11196"/>
                  </a:lnTo>
                  <a:cubicBezTo>
                    <a:pt x="2682638" y="11196"/>
                    <a:pt x="2441338" y="13736"/>
                    <a:pt x="2201308" y="16276"/>
                  </a:cubicBezTo>
                  <a:cubicBezTo>
                    <a:pt x="1773318" y="21356"/>
                    <a:pt x="1344058" y="28976"/>
                    <a:pt x="916068" y="30246"/>
                  </a:cubicBezTo>
                  <a:cubicBezTo>
                    <a:pt x="749698" y="30246"/>
                    <a:pt x="583328" y="21356"/>
                    <a:pt x="416958" y="11196"/>
                  </a:cubicBezTo>
                  <a:cubicBezTo>
                    <a:pt x="279798" y="2306"/>
                    <a:pt x="140098" y="-5314"/>
                    <a:pt x="2938" y="4846"/>
                  </a:cubicBezTo>
                  <a:cubicBezTo>
                    <a:pt x="4208" y="205506"/>
                    <a:pt x="5478" y="406166"/>
                    <a:pt x="8018" y="605556"/>
                  </a:cubicBezTo>
                  <a:cubicBezTo>
                    <a:pt x="11828" y="1051326"/>
                    <a:pt x="18178" y="1497096"/>
                    <a:pt x="14368" y="1942866"/>
                  </a:cubicBezTo>
                  <a:cubicBezTo>
                    <a:pt x="13098" y="2163846"/>
                    <a:pt x="4208" y="2384826"/>
                    <a:pt x="398" y="2605806"/>
                  </a:cubicBezTo>
                  <a:cubicBezTo>
                    <a:pt x="-2142" y="2725186"/>
                    <a:pt x="8018" y="2844566"/>
                    <a:pt x="15638" y="2962676"/>
                  </a:cubicBezTo>
                  <a:cubicBezTo>
                    <a:pt x="75328" y="2957596"/>
                    <a:pt x="136288" y="2961406"/>
                    <a:pt x="194708" y="2966486"/>
                  </a:cubicBezTo>
                  <a:cubicBezTo>
                    <a:pt x="284878" y="2974106"/>
                    <a:pt x="373778" y="2982996"/>
                    <a:pt x="463948" y="2986806"/>
                  </a:cubicBezTo>
                  <a:cubicBezTo>
                    <a:pt x="880508" y="2999506"/>
                    <a:pt x="1298338" y="2991886"/>
                    <a:pt x="1714898" y="2981726"/>
                  </a:cubicBezTo>
                  <a:cubicBezTo>
                    <a:pt x="2125108" y="2970296"/>
                    <a:pt x="2536588" y="2957596"/>
                    <a:pt x="2948068" y="2956326"/>
                  </a:cubicBezTo>
                  <a:cubicBezTo>
                    <a:pt x="2940448" y="2788686"/>
                    <a:pt x="2931558" y="2621046"/>
                    <a:pt x="2926478" y="2452136"/>
                  </a:cubicBezTo>
                  <a:cubicBezTo>
                    <a:pt x="2913778" y="2029226"/>
                    <a:pt x="2931558" y="1607586"/>
                    <a:pt x="2942988" y="1184676"/>
                  </a:cubicBezTo>
                  <a:cubicBezTo>
                    <a:pt x="2954418" y="794786"/>
                    <a:pt x="2960768" y="402356"/>
                    <a:pt x="2934098" y="11196"/>
                  </a:cubicBezTo>
                  <a:close/>
                </a:path>
              </a:pathLst>
            </a:custGeom>
            <a:blipFill>
              <a:blip r:embed="rId2"/>
              <a:stretch>
                <a:fillRect l="0" t="-11652" r="0" b="-1165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6473901"/>
            <a:ext cx="9241040" cy="103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b="true" sz="2070" spc="18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SHAILANSHI  GUPTA</a:t>
            </a:r>
          </a:p>
          <a:p>
            <a:pPr algn="l">
              <a:lnSpc>
                <a:spcPts val="3415"/>
              </a:lnSpc>
            </a:pPr>
            <a:r>
              <a:rPr lang="en-US" b="true" sz="2070" spc="89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  TO  </a:t>
            </a:r>
            <a:r>
              <a:rPr lang="en-US" b="true" sz="2070" spc="89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Business  Analytics  Project</a:t>
            </a:r>
          </a:p>
          <a:p>
            <a:pPr algn="l">
              <a:lnSpc>
                <a:spcPts val="2194"/>
              </a:lnSpc>
            </a:pPr>
            <a:r>
              <a:rPr lang="en-US" b="true" sz="2070" spc="18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December  2024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540969"/>
            <a:ext cx="8468578" cy="1224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4233" spc="-127">
                <a:solidFill>
                  <a:srgbClr val="DF554A"/>
                </a:solidFill>
                <a:latin typeface="Yeseva One"/>
                <a:ea typeface="Yeseva One"/>
                <a:cs typeface="Yeseva One"/>
                <a:sym typeface="Yeseva One"/>
              </a:rPr>
              <a:t>A MULTI-MODEL MACHINE LEARNING 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032304"/>
            <a:ext cx="9381237" cy="223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6"/>
              </a:lnSpc>
            </a:pPr>
            <a:r>
              <a:rPr lang="en-US" sz="7110" spc="568">
                <a:solidFill>
                  <a:srgbClr val="934540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Predicting</a:t>
            </a:r>
            <a:r>
              <a:rPr lang="en-US" sz="7110" spc="568">
                <a:solidFill>
                  <a:srgbClr val="934540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 Sneaker</a:t>
            </a:r>
          </a:p>
          <a:p>
            <a:pPr algn="l">
              <a:lnSpc>
                <a:spcPts val="8816"/>
              </a:lnSpc>
            </a:pPr>
            <a:r>
              <a:rPr lang="en-US" sz="7110" spc="568">
                <a:solidFill>
                  <a:srgbClr val="934540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resale Value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-1476" t="-40201" r="0" b="-402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26281" y="1719792"/>
            <a:ext cx="10044410" cy="83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8"/>
              </a:lnSpc>
              <a:spcBef>
                <a:spcPct val="0"/>
              </a:spcBef>
            </a:pPr>
            <a:r>
              <a:rPr lang="en-US" b="true" sz="5356" i="true" spc="428">
                <a:solidFill>
                  <a:srgbClr val="93454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THE BUSINESS PROBLEM</a:t>
            </a:r>
            <a:r>
              <a:rPr lang="en-US" sz="5356" spc="428">
                <a:solidFill>
                  <a:srgbClr val="93454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0961" y="3301522"/>
            <a:ext cx="16478339" cy="565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</a:p>
          <a:p>
            <a:pPr algn="l">
              <a:lnSpc>
                <a:spcPts val="3204"/>
              </a:lnSpc>
            </a:pPr>
            <a:r>
              <a:rPr lang="en-US" b="true" sz="3022" spc="241">
                <a:solidFill>
                  <a:srgbClr val="4D0E0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THE SNEAKER RESALE MARKET</a:t>
            </a:r>
          </a:p>
          <a:p>
            <a:pPr algn="l">
              <a:lnSpc>
                <a:spcPts val="3204"/>
              </a:lnSpc>
            </a:pPr>
            <a:r>
              <a:rPr lang="en-US" b="true" sz="3022" spc="241">
                <a:solidFill>
                  <a:srgbClr val="4D0E0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- Multi-billion dollar industry with 200-400% markups</a:t>
            </a:r>
          </a:p>
          <a:p>
            <a:pPr algn="l">
              <a:lnSpc>
                <a:spcPts val="3204"/>
              </a:lnSpc>
            </a:pPr>
            <a:r>
              <a:rPr lang="en-US" b="true" sz="3022" spc="241">
                <a:solidFill>
                  <a:srgbClr val="4D0E0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- Our data: Average sneaker sells for $447 (213% of $209 retail)</a:t>
            </a:r>
          </a:p>
          <a:p>
            <a:pPr algn="l">
              <a:lnSpc>
                <a:spcPts val="3204"/>
              </a:lnSpc>
            </a:pPr>
          </a:p>
          <a:p>
            <a:pPr algn="l">
              <a:lnSpc>
                <a:spcPts val="3204"/>
              </a:lnSpc>
            </a:pPr>
          </a:p>
          <a:p>
            <a:pPr algn="l">
              <a:lnSpc>
                <a:spcPts val="3204"/>
              </a:lnSpc>
            </a:pPr>
            <a:r>
              <a:rPr lang="en-US" b="true" sz="3022" spc="241">
                <a:solidFill>
                  <a:srgbClr val="4D0E0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The Challenge</a:t>
            </a:r>
          </a:p>
          <a:p>
            <a:pPr algn="l">
              <a:lnSpc>
                <a:spcPts val="3204"/>
              </a:lnSpc>
            </a:pPr>
            <a:r>
              <a:rPr lang="en-US" b="true" sz="3022" spc="241">
                <a:solidFill>
                  <a:srgbClr val="4D0E0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- Which sneakers will hold/gain value?</a:t>
            </a:r>
          </a:p>
          <a:p>
            <a:pPr algn="l">
              <a:lnSpc>
                <a:spcPts val="3204"/>
              </a:lnSpc>
            </a:pPr>
            <a:r>
              <a:rPr lang="en-US" b="true" sz="3022" spc="241">
                <a:solidFill>
                  <a:srgbClr val="4D0E0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- Buyers and resellers need data-driven guidance</a:t>
            </a:r>
          </a:p>
          <a:p>
            <a:pPr algn="l">
              <a:lnSpc>
                <a:spcPts val="3204"/>
              </a:lnSpc>
            </a:pPr>
          </a:p>
          <a:p>
            <a:pPr algn="l">
              <a:lnSpc>
                <a:spcPts val="3204"/>
              </a:lnSpc>
            </a:pPr>
          </a:p>
          <a:p>
            <a:pPr algn="l">
              <a:lnSpc>
                <a:spcPts val="3204"/>
              </a:lnSpc>
            </a:pPr>
            <a:r>
              <a:rPr lang="en-US" b="true" sz="3022" spc="241">
                <a:solidFill>
                  <a:srgbClr val="4D0E0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Research Question</a:t>
            </a:r>
          </a:p>
          <a:p>
            <a:pPr algn="l">
              <a:lnSpc>
                <a:spcPts val="3204"/>
              </a:lnSpc>
            </a:pPr>
            <a:r>
              <a:rPr lang="en-US" b="true" sz="3022" spc="241">
                <a:solidFill>
                  <a:srgbClr val="4D0E0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- Can we predict sneaker resale prices?</a:t>
            </a:r>
          </a:p>
          <a:p>
            <a:pPr algn="l">
              <a:lnSpc>
                <a:spcPts val="3204"/>
              </a:lnSpc>
              <a:spcBef>
                <a:spcPct val="0"/>
              </a:spcBef>
            </a:pPr>
            <a:r>
              <a:rPr lang="en-US" b="true" sz="3022" spc="241">
                <a:solidFill>
                  <a:srgbClr val="4D0E0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- What factors drive value?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73322" y="3002210"/>
            <a:ext cx="4362198" cy="5301882"/>
          </a:xfrm>
          <a:custGeom>
            <a:avLst/>
            <a:gdLst/>
            <a:ahLst/>
            <a:cxnLst/>
            <a:rect r="r" b="b" t="t" l="l"/>
            <a:pathLst>
              <a:path h="5301882" w="4362198">
                <a:moveTo>
                  <a:pt x="0" y="0"/>
                </a:moveTo>
                <a:lnTo>
                  <a:pt x="4362199" y="0"/>
                </a:lnTo>
                <a:lnTo>
                  <a:pt x="4362199" y="5301882"/>
                </a:lnTo>
                <a:lnTo>
                  <a:pt x="0" y="5301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807" t="-28199" r="-146472" b="-501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05521" y="1230316"/>
            <a:ext cx="13276957" cy="83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8"/>
              </a:lnSpc>
              <a:spcBef>
                <a:spcPct val="0"/>
              </a:spcBef>
            </a:pPr>
            <a:r>
              <a:rPr lang="en-US" sz="5356" i="true">
                <a:solidFill>
                  <a:srgbClr val="93454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WHO BENEFITS FROM THIS ANALYSIS?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789577" y="3002210"/>
            <a:ext cx="4363402" cy="5301882"/>
          </a:xfrm>
          <a:custGeom>
            <a:avLst/>
            <a:gdLst/>
            <a:ahLst/>
            <a:cxnLst/>
            <a:rect r="r" b="b" t="t" l="l"/>
            <a:pathLst>
              <a:path h="5301882" w="4363402">
                <a:moveTo>
                  <a:pt x="0" y="0"/>
                </a:moveTo>
                <a:lnTo>
                  <a:pt x="4363402" y="0"/>
                </a:lnTo>
                <a:lnTo>
                  <a:pt x="4363402" y="5301882"/>
                </a:lnTo>
                <a:lnTo>
                  <a:pt x="0" y="5301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824" t="-28199" r="-140366" b="-5010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2479" y="3002210"/>
            <a:ext cx="4363402" cy="5301882"/>
          </a:xfrm>
          <a:custGeom>
            <a:avLst/>
            <a:gdLst/>
            <a:ahLst/>
            <a:cxnLst/>
            <a:rect r="r" b="b" t="t" l="l"/>
            <a:pathLst>
              <a:path h="5301882" w="4363402">
                <a:moveTo>
                  <a:pt x="0" y="0"/>
                </a:moveTo>
                <a:lnTo>
                  <a:pt x="4363403" y="0"/>
                </a:lnTo>
                <a:lnTo>
                  <a:pt x="4363403" y="5301882"/>
                </a:lnTo>
                <a:lnTo>
                  <a:pt x="0" y="5301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681" t="-28199" r="-130509" b="-5010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1157" y="3702609"/>
            <a:ext cx="3466047" cy="376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8"/>
              </a:lnSpc>
            </a:pPr>
            <a:r>
              <a:rPr lang="en-US" sz="3007" spc="2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👤 </a:t>
            </a:r>
            <a:r>
              <a:rPr lang="en-US" b="true" sz="3007" spc="240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CONSUMERS</a:t>
            </a:r>
          </a:p>
          <a:p>
            <a:pPr algn="ctr">
              <a:lnSpc>
                <a:spcPts val="3188"/>
              </a:lnSpc>
            </a:pPr>
          </a:p>
          <a:p>
            <a:pPr algn="ctr">
              <a:lnSpc>
                <a:spcPts val="2870"/>
              </a:lnSpc>
            </a:pPr>
            <a:r>
              <a:rPr lang="en-US" sz="2707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Make smarter </a:t>
            </a:r>
          </a:p>
          <a:p>
            <a:pPr algn="ctr">
              <a:lnSpc>
                <a:spcPts val="2870"/>
              </a:lnSpc>
            </a:pPr>
            <a:r>
              <a:rPr lang="en-US" sz="2707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purchasing decisions</a:t>
            </a:r>
          </a:p>
          <a:p>
            <a:pPr algn="ctr">
              <a:lnSpc>
                <a:spcPts val="2870"/>
              </a:lnSpc>
            </a:pPr>
          </a:p>
          <a:p>
            <a:pPr algn="ctr">
              <a:lnSpc>
                <a:spcPts val="2870"/>
              </a:lnSpc>
            </a:pPr>
            <a:r>
              <a:rPr lang="en-US" sz="2707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Identify investment-</a:t>
            </a:r>
          </a:p>
          <a:p>
            <a:pPr algn="ctr">
              <a:lnSpc>
                <a:spcPts val="2870"/>
              </a:lnSpc>
              <a:spcBef>
                <a:spcPct val="0"/>
              </a:spcBef>
            </a:pPr>
            <a:r>
              <a:rPr lang="en-US" sz="2707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worthy sneakers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02708" y="3702609"/>
            <a:ext cx="3537139" cy="340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9"/>
              </a:lnSpc>
            </a:pPr>
            <a:r>
              <a:rPr lang="en-US" sz="3008" spc="2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💼 </a:t>
            </a:r>
            <a:r>
              <a:rPr lang="en-US" b="true" sz="3008" spc="240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RESELLERS</a:t>
            </a:r>
          </a:p>
          <a:p>
            <a:pPr algn="ctr">
              <a:lnSpc>
                <a:spcPts val="3189"/>
              </a:lnSpc>
            </a:pPr>
          </a:p>
          <a:p>
            <a:pPr algn="ctr">
              <a:lnSpc>
                <a:spcPts val="2871"/>
              </a:lnSpc>
            </a:pPr>
            <a:r>
              <a:rPr lang="en-US" sz="2708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Optimize inventory </a:t>
            </a:r>
          </a:p>
          <a:p>
            <a:pPr algn="ctr">
              <a:lnSpc>
                <a:spcPts val="2871"/>
              </a:lnSpc>
            </a:pPr>
            <a:r>
              <a:rPr lang="en-US" sz="2708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selection</a:t>
            </a:r>
          </a:p>
          <a:p>
            <a:pPr algn="ctr">
              <a:lnSpc>
                <a:spcPts val="2871"/>
              </a:lnSpc>
            </a:pPr>
          </a:p>
          <a:p>
            <a:pPr algn="ctr">
              <a:lnSpc>
                <a:spcPts val="2871"/>
              </a:lnSpc>
            </a:pPr>
            <a:r>
              <a:rPr lang="en-US" sz="2708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Maximize profit </a:t>
            </a:r>
          </a:p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708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margins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86226" y="3758327"/>
            <a:ext cx="4136390" cy="305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1"/>
              </a:lnSpc>
            </a:pPr>
            <a:r>
              <a:rPr lang="en-US" sz="3019" spc="2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🏢 </a:t>
            </a:r>
            <a:r>
              <a:rPr lang="en-US" b="true" sz="3019" spc="241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BRANDS</a:t>
            </a:r>
          </a:p>
          <a:p>
            <a:pPr algn="ctr">
              <a:lnSpc>
                <a:spcPts val="3201"/>
              </a:lnSpc>
            </a:pPr>
          </a:p>
          <a:p>
            <a:pPr algn="ctr">
              <a:lnSpc>
                <a:spcPts val="2872"/>
              </a:lnSpc>
            </a:pPr>
            <a:r>
              <a:rPr lang="en-US" sz="2709" spc="97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Understand market </a:t>
            </a:r>
          </a:p>
          <a:p>
            <a:pPr algn="ctr">
              <a:lnSpc>
                <a:spcPts val="2872"/>
              </a:lnSpc>
            </a:pPr>
            <a:r>
              <a:rPr lang="en-US" sz="2709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drivers</a:t>
            </a:r>
          </a:p>
          <a:p>
            <a:pPr algn="ctr">
              <a:lnSpc>
                <a:spcPts val="2872"/>
              </a:lnSpc>
            </a:pPr>
          </a:p>
          <a:p>
            <a:pPr algn="ctr">
              <a:lnSpc>
                <a:spcPts val="2872"/>
              </a:lnSpc>
            </a:pPr>
            <a:r>
              <a:rPr lang="en-US" sz="2709" spc="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Inform pricing </a:t>
            </a:r>
          </a:p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709" spc="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strategies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55999" y="1028700"/>
            <a:ext cx="3380443" cy="1738297"/>
          </a:xfrm>
          <a:custGeom>
            <a:avLst/>
            <a:gdLst/>
            <a:ahLst/>
            <a:cxnLst/>
            <a:rect r="r" b="b" t="t" l="l"/>
            <a:pathLst>
              <a:path h="1738297" w="3380443">
                <a:moveTo>
                  <a:pt x="0" y="0"/>
                </a:moveTo>
                <a:lnTo>
                  <a:pt x="3380443" y="0"/>
                </a:lnTo>
                <a:lnTo>
                  <a:pt x="3380443" y="1738297"/>
                </a:lnTo>
                <a:lnTo>
                  <a:pt x="0" y="1738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068" t="-58638" r="-21201" b="-1578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55999" y="3128947"/>
            <a:ext cx="3380443" cy="1738297"/>
          </a:xfrm>
          <a:custGeom>
            <a:avLst/>
            <a:gdLst/>
            <a:ahLst/>
            <a:cxnLst/>
            <a:rect r="r" b="b" t="t" l="l"/>
            <a:pathLst>
              <a:path h="1738297" w="3380443">
                <a:moveTo>
                  <a:pt x="0" y="0"/>
                </a:moveTo>
                <a:lnTo>
                  <a:pt x="3380443" y="0"/>
                </a:lnTo>
                <a:lnTo>
                  <a:pt x="3380443" y="1738298"/>
                </a:lnTo>
                <a:lnTo>
                  <a:pt x="0" y="173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068" t="-58638" r="-21201" b="-15784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17428" y="5229195"/>
            <a:ext cx="3380443" cy="1738297"/>
          </a:xfrm>
          <a:custGeom>
            <a:avLst/>
            <a:gdLst/>
            <a:ahLst/>
            <a:cxnLst/>
            <a:rect r="r" b="b" t="t" l="l"/>
            <a:pathLst>
              <a:path h="1738297" w="3380443">
                <a:moveTo>
                  <a:pt x="0" y="0"/>
                </a:moveTo>
                <a:lnTo>
                  <a:pt x="3380443" y="0"/>
                </a:lnTo>
                <a:lnTo>
                  <a:pt x="3380443" y="1738297"/>
                </a:lnTo>
                <a:lnTo>
                  <a:pt x="0" y="1738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068" t="-58638" r="-21201" b="-1578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78857" y="7329442"/>
            <a:ext cx="3380443" cy="1738297"/>
          </a:xfrm>
          <a:custGeom>
            <a:avLst/>
            <a:gdLst/>
            <a:ahLst/>
            <a:cxnLst/>
            <a:rect r="r" b="b" t="t" l="l"/>
            <a:pathLst>
              <a:path h="1738297" w="3380443">
                <a:moveTo>
                  <a:pt x="0" y="0"/>
                </a:moveTo>
                <a:lnTo>
                  <a:pt x="3380443" y="0"/>
                </a:lnTo>
                <a:lnTo>
                  <a:pt x="3380443" y="1738297"/>
                </a:lnTo>
                <a:lnTo>
                  <a:pt x="0" y="1738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068" t="-58638" r="-21201" b="-157849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7667086" y="5232862"/>
            <a:ext cx="6211771" cy="5054138"/>
          </a:xfrm>
          <a:custGeom>
            <a:avLst/>
            <a:gdLst/>
            <a:ahLst/>
            <a:cxnLst/>
            <a:rect r="r" b="b" t="t" l="l"/>
            <a:pathLst>
              <a:path h="5054138" w="6211771">
                <a:moveTo>
                  <a:pt x="6211771" y="0"/>
                </a:moveTo>
                <a:lnTo>
                  <a:pt x="0" y="0"/>
                </a:lnTo>
                <a:lnTo>
                  <a:pt x="0" y="5054138"/>
                </a:lnTo>
                <a:lnTo>
                  <a:pt x="6211771" y="5054138"/>
                </a:lnTo>
                <a:lnTo>
                  <a:pt x="6211771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6624" t="-59449" r="-12611" b="-2373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848619"/>
            <a:ext cx="12070110" cy="543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12" spc="240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SOURCE</a:t>
            </a:r>
          </a:p>
          <a:p>
            <a:pPr algn="l">
              <a:lnSpc>
                <a:spcPts val="3584"/>
              </a:lnSpc>
            </a:pPr>
            <a:r>
              <a:rPr lang="en-US" sz="3012" spc="2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StockX marketplace (real resale platform)</a:t>
            </a:r>
          </a:p>
          <a:p>
            <a:pPr algn="l">
              <a:lnSpc>
                <a:spcPts val="3584"/>
              </a:lnSpc>
            </a:pPr>
            <a:r>
              <a:rPr lang="en-US" sz="3012" spc="2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- 99,956 sneaker sales transactions</a:t>
            </a:r>
          </a:p>
          <a:p>
            <a:pPr algn="l">
              <a:lnSpc>
                <a:spcPts val="3584"/>
              </a:lnSpc>
            </a:pPr>
            <a:r>
              <a:rPr lang="en-US" sz="3012" spc="2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Time period: 2017-2019</a:t>
            </a:r>
          </a:p>
          <a:p>
            <a:pPr algn="l">
              <a:lnSpc>
                <a:spcPts val="3584"/>
              </a:lnSpc>
            </a:pPr>
          </a:p>
          <a:p>
            <a:pPr algn="l">
              <a:lnSpc>
                <a:spcPts val="3584"/>
              </a:lnSpc>
            </a:pPr>
          </a:p>
          <a:p>
            <a:pPr algn="l">
              <a:lnSpc>
                <a:spcPts val="3584"/>
              </a:lnSpc>
            </a:pPr>
          </a:p>
          <a:p>
            <a:pPr algn="l">
              <a:lnSpc>
                <a:spcPts val="3584"/>
              </a:lnSpc>
            </a:pPr>
            <a:r>
              <a:rPr lang="en-US" b="true" sz="3012" spc="240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 VARIABLES (8)</a:t>
            </a:r>
          </a:p>
          <a:p>
            <a:pPr algn="l">
              <a:lnSpc>
                <a:spcPts val="3584"/>
              </a:lnSpc>
            </a:pPr>
            <a:r>
              <a:rPr lang="en-US" sz="3012" spc="2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Sale Price &amp; Retail Price</a:t>
            </a:r>
          </a:p>
          <a:p>
            <a:pPr algn="l">
              <a:lnSpc>
                <a:spcPts val="3584"/>
              </a:lnSpc>
            </a:pPr>
            <a:r>
              <a:rPr lang="en-US" sz="3012" spc="2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Brand &amp; Sneaker Name</a:t>
            </a:r>
          </a:p>
          <a:p>
            <a:pPr algn="l">
              <a:lnSpc>
                <a:spcPts val="3584"/>
              </a:lnSpc>
            </a:pPr>
            <a:r>
              <a:rPr lang="en-US" sz="3012" spc="2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Order Date &amp; Release Date</a:t>
            </a:r>
          </a:p>
          <a:p>
            <a:pPr algn="l">
              <a:lnSpc>
                <a:spcPts val="3584"/>
              </a:lnSpc>
            </a:pPr>
            <a:r>
              <a:rPr lang="en-US" sz="3012" spc="240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Shoe Size &amp; Buyer Region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33073" y="990600"/>
            <a:ext cx="2026295" cy="78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2"/>
              </a:lnSpc>
              <a:spcBef>
                <a:spcPct val="0"/>
              </a:spcBef>
            </a:pPr>
            <a:r>
              <a:rPr lang="en-US" sz="4907" spc="392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99,956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20845" y="1966705"/>
            <a:ext cx="2450753" cy="60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TOTAL  </a:t>
            </a:r>
          </a:p>
          <a:p>
            <a:pPr algn="l">
              <a:lnSpc>
                <a:spcPts val="2226"/>
              </a:lnSpc>
              <a:spcBef>
                <a:spcPct val="0"/>
              </a:spcBef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TRANSACTIONS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20374" y="3090847"/>
            <a:ext cx="1651695" cy="78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2"/>
              </a:lnSpc>
              <a:spcBef>
                <a:spcPct val="0"/>
              </a:spcBef>
            </a:pPr>
            <a:r>
              <a:rPr lang="en-US" sz="4907" spc="392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$ 209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38567" y="3979046"/>
            <a:ext cx="2815307" cy="60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AVERAGE RETAIL </a:t>
            </a:r>
          </a:p>
          <a:p>
            <a:pPr algn="ctr">
              <a:lnSpc>
                <a:spcPts val="2226"/>
              </a:lnSpc>
              <a:spcBef>
                <a:spcPct val="0"/>
              </a:spcBef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81802" y="5191095"/>
            <a:ext cx="1651695" cy="78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2"/>
              </a:lnSpc>
              <a:spcBef>
                <a:spcPct val="0"/>
              </a:spcBef>
            </a:pPr>
            <a:r>
              <a:rPr lang="en-US" sz="4907" spc="392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$ 447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67614" y="6164179"/>
            <a:ext cx="2253928" cy="60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AVERAGE </a:t>
            </a:r>
          </a:p>
          <a:p>
            <a:pPr algn="ctr">
              <a:lnSpc>
                <a:spcPts val="2226"/>
              </a:lnSpc>
              <a:spcBef>
                <a:spcPct val="0"/>
              </a:spcBef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RESALE PRICE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42586" y="7291342"/>
            <a:ext cx="1852985" cy="78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2"/>
              </a:lnSpc>
              <a:spcBef>
                <a:spcPct val="0"/>
              </a:spcBef>
            </a:pPr>
            <a:r>
              <a:rPr lang="en-US" sz="4907" spc="392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213 %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85350" y="8264427"/>
            <a:ext cx="1567458" cy="60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AVERAGE </a:t>
            </a:r>
          </a:p>
          <a:p>
            <a:pPr algn="ctr">
              <a:lnSpc>
                <a:spcPts val="2226"/>
              </a:lnSpc>
              <a:spcBef>
                <a:spcPct val="0"/>
              </a:spcBef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MARKUP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0025" y="1000125"/>
            <a:ext cx="10127950" cy="66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0"/>
              </a:lnSpc>
              <a:spcBef>
                <a:spcPct val="0"/>
              </a:spcBef>
            </a:pPr>
            <a:r>
              <a:rPr lang="en-US" b="true" sz="4207" i="true" spc="16">
                <a:solidFill>
                  <a:srgbClr val="93454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DATA  SOURCE  AND 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65166" y="760858"/>
            <a:ext cx="10757669" cy="122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</a:pPr>
            <a:r>
              <a:rPr lang="en-US" b="true" sz="4200" i="true" spc="336">
                <a:solidFill>
                  <a:srgbClr val="93454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FEATURE ENGINEERING: </a:t>
            </a:r>
          </a:p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b="true" sz="4200" i="true" spc="336">
                <a:solidFill>
                  <a:srgbClr val="93454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CREATING PREDICTIVE VARIABLES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21476" y="2292860"/>
            <a:ext cx="14645049" cy="6372774"/>
            <a:chOff x="0" y="0"/>
            <a:chExt cx="19526732" cy="84970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84011" cy="8497032"/>
            </a:xfrm>
            <a:custGeom>
              <a:avLst/>
              <a:gdLst/>
              <a:ahLst/>
              <a:cxnLst/>
              <a:rect r="r" b="b" t="t" l="l"/>
              <a:pathLst>
                <a:path h="8497032" w="9384011">
                  <a:moveTo>
                    <a:pt x="0" y="0"/>
                  </a:moveTo>
                  <a:lnTo>
                    <a:pt x="9384011" y="0"/>
                  </a:lnTo>
                  <a:lnTo>
                    <a:pt x="9384011" y="8497032"/>
                  </a:lnTo>
                  <a:lnTo>
                    <a:pt x="0" y="849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7434" t="-16531" r="-33366" b="-1650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0142721" y="0"/>
              <a:ext cx="9384011" cy="8497032"/>
            </a:xfrm>
            <a:custGeom>
              <a:avLst/>
              <a:gdLst/>
              <a:ahLst/>
              <a:cxnLst/>
              <a:rect r="r" b="b" t="t" l="l"/>
              <a:pathLst>
                <a:path h="8497032" w="9384011">
                  <a:moveTo>
                    <a:pt x="0" y="0"/>
                  </a:moveTo>
                  <a:lnTo>
                    <a:pt x="9384011" y="0"/>
                  </a:lnTo>
                  <a:lnTo>
                    <a:pt x="9384011" y="8497032"/>
                  </a:lnTo>
                  <a:lnTo>
                    <a:pt x="0" y="849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7434" t="-16531" r="-33366" b="-1650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661929" y="509058"/>
              <a:ext cx="8060152" cy="7469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7"/>
                </a:lnSpc>
              </a:pPr>
              <a:r>
                <a:rPr lang="en-US" b="true" sz="2545" spc="203">
                  <a:solidFill>
                    <a:srgbClr val="4D0E0A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 CLEANING</a:t>
              </a:r>
            </a:p>
            <a:p>
              <a:pPr algn="ctr">
                <a:lnSpc>
                  <a:spcPts val="2697"/>
                </a:lnSpc>
              </a:pPr>
            </a:p>
            <a:p>
              <a:pPr algn="l">
                <a:lnSpc>
                  <a:spcPts val="2410"/>
                </a:lnSpc>
              </a:pP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Removed $ signs and commas from prices</a:t>
              </a:r>
            </a:p>
            <a:p>
              <a:pPr algn="l">
                <a:lnSpc>
                  <a:spcPts val="2410"/>
                </a:lnSpc>
              </a:pP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Converted text dates to date format</a:t>
              </a:r>
            </a:p>
            <a:p>
              <a:pPr algn="l">
                <a:lnSpc>
                  <a:spcPts val="2410"/>
                </a:lnSpc>
              </a:pP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Handled missing values</a:t>
              </a:r>
            </a:p>
            <a:p>
              <a:pPr algn="l">
                <a:lnSpc>
                  <a:spcPts val="2410"/>
                </a:lnSpc>
              </a:pP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Result: Clean dataset ready for modeling</a:t>
              </a:r>
            </a:p>
            <a:p>
              <a:pPr algn="l">
                <a:lnSpc>
                  <a:spcPts val="2410"/>
                </a:lnSpc>
              </a:pPr>
            </a:p>
            <a:p>
              <a:pPr algn="l">
                <a:lnSpc>
                  <a:spcPts val="2410"/>
                </a:lnSpc>
              </a:pPr>
            </a:p>
            <a:p>
              <a:pPr algn="ctr">
                <a:lnSpc>
                  <a:spcPts val="2697"/>
                </a:lnSpc>
              </a:pPr>
              <a:r>
                <a:rPr lang="en-US" b="true" sz="2545" spc="203">
                  <a:solidFill>
                    <a:srgbClr val="4D0E0A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FROM 8 TO 17 VARIABLES</a:t>
              </a:r>
            </a:p>
            <a:p>
              <a:pPr algn="ctr">
                <a:lnSpc>
                  <a:spcPts val="2697"/>
                </a:lnSpc>
              </a:pPr>
            </a:p>
            <a:p>
              <a:pPr algn="l">
                <a:lnSpc>
                  <a:spcPts val="2410"/>
                </a:lnSpc>
              </a:pP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</a:t>
              </a: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</a:t>
              </a: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riginal: 8 variables</a:t>
              </a:r>
            </a:p>
            <a:p>
              <a:pPr algn="l">
                <a:lnSpc>
                  <a:spcPts val="2410"/>
                </a:lnSpc>
              </a:pP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</a:t>
              </a: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Created: 9 new engineered features</a:t>
              </a:r>
            </a:p>
            <a:p>
              <a:pPr algn="l">
                <a:lnSpc>
                  <a:spcPts val="2410"/>
                </a:lnSpc>
                <a:spcBef>
                  <a:spcPct val="0"/>
                </a:spcBef>
              </a:pP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</a:t>
              </a:r>
              <a:r>
                <a:rPr lang="en-US" sz="2274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Total: 17 variables for modeling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0813776" y="354363"/>
              <a:ext cx="8041900" cy="7778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7"/>
                </a:lnSpc>
              </a:pPr>
              <a:r>
                <a:rPr lang="en-US" b="true" sz="2544" spc="203">
                  <a:solidFill>
                    <a:srgbClr val="4D0E0A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NEW FEATURES CREATED</a:t>
              </a:r>
            </a:p>
            <a:p>
              <a:pPr algn="l">
                <a:lnSpc>
                  <a:spcPts val="2678"/>
                </a:lnSpc>
              </a:pPr>
            </a:p>
            <a:p>
              <a:pPr algn="l">
                <a:lnSpc>
                  <a:spcPts val="2410"/>
                </a:lnSpc>
              </a:pPr>
              <a:r>
                <a:rPr lang="en-US" b="true" sz="2273" spc="181">
                  <a:solidFill>
                    <a:srgbClr val="4D0E0A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⏰ TIME-BASED</a:t>
              </a:r>
            </a:p>
            <a:p>
              <a:pPr algn="l">
                <a:lnSpc>
                  <a:spcPts val="2410"/>
                </a:lnSpc>
              </a:pPr>
              <a:r>
                <a:rPr lang="en-US" sz="2273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Days Since Release (sneaker age)</a:t>
              </a:r>
            </a:p>
            <a:p>
              <a:pPr algn="l">
                <a:lnSpc>
                  <a:spcPts val="2410"/>
                </a:lnSpc>
              </a:pPr>
              <a:r>
                <a:rPr lang="en-US" sz="2273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Release Year, Sale Year, Sale Month</a:t>
              </a:r>
            </a:p>
            <a:p>
              <a:pPr algn="l">
                <a:lnSpc>
                  <a:spcPts val="2410"/>
                </a:lnSpc>
              </a:pPr>
            </a:p>
            <a:p>
              <a:pPr algn="l">
                <a:lnSpc>
                  <a:spcPts val="2410"/>
                </a:lnSpc>
              </a:pPr>
              <a:r>
                <a:rPr lang="en-US" b="true" sz="2273" spc="181">
                  <a:solidFill>
                    <a:srgbClr val="4D0E0A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💰 PRICE-BASED</a:t>
              </a:r>
            </a:p>
            <a:p>
              <a:pPr algn="l">
                <a:lnSpc>
                  <a:spcPts val="2410"/>
                </a:lnSpc>
              </a:pPr>
              <a:r>
                <a:rPr lang="en-US" sz="2273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Markup in Dollars (profit)</a:t>
              </a:r>
            </a:p>
            <a:p>
              <a:pPr algn="l">
                <a:lnSpc>
                  <a:spcPts val="2410"/>
                </a:lnSpc>
              </a:pPr>
              <a:r>
                <a:rPr lang="en-US" sz="2273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Log transformations (for regression)</a:t>
              </a:r>
            </a:p>
            <a:p>
              <a:pPr algn="l">
                <a:lnSpc>
                  <a:spcPts val="2410"/>
                </a:lnSpc>
              </a:pPr>
            </a:p>
            <a:p>
              <a:pPr algn="l">
                <a:lnSpc>
                  <a:spcPts val="2410"/>
                </a:lnSpc>
              </a:pPr>
              <a:r>
                <a:rPr lang="en-US" b="true" sz="2273" spc="181">
                  <a:solidFill>
                    <a:srgbClr val="4D0E0A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🏷️ CATEGORICAL</a:t>
              </a:r>
            </a:p>
            <a:p>
              <a:pPr algn="l">
                <a:lnSpc>
                  <a:spcPts val="2410"/>
                </a:lnSpc>
              </a:pPr>
              <a:r>
                <a:rPr lang="en-US" sz="2273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Is Premium Brand? (Yeezy/Off-White/Jordan)</a:t>
              </a:r>
            </a:p>
            <a:p>
              <a:pPr algn="l">
                <a:lnSpc>
                  <a:spcPts val="2410"/>
                </a:lnSpc>
              </a:pPr>
              <a:r>
                <a:rPr lang="en-US" sz="2273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Price Category (Budget/Mid/Premium)</a:t>
              </a:r>
            </a:p>
            <a:p>
              <a:pPr algn="l">
                <a:lnSpc>
                  <a:spcPts val="2410"/>
                </a:lnSpc>
                <a:spcBef>
                  <a:spcPct val="0"/>
                </a:spcBef>
              </a:pPr>
              <a:r>
                <a:rPr lang="en-US" sz="2273" spc="181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 Above Retail? (Yes/No)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973750"/>
            <a:ext cx="16230600" cy="569099"/>
            <a:chOff x="0" y="0"/>
            <a:chExt cx="21640800" cy="7587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3552" cy="697598"/>
            </a:xfrm>
            <a:custGeom>
              <a:avLst/>
              <a:gdLst/>
              <a:ahLst/>
              <a:cxnLst/>
              <a:rect r="r" b="b" t="t" l="l"/>
              <a:pathLst>
                <a:path h="697598" w="3663552">
                  <a:moveTo>
                    <a:pt x="0" y="0"/>
                  </a:moveTo>
                  <a:lnTo>
                    <a:pt x="3663552" y="0"/>
                  </a:lnTo>
                  <a:lnTo>
                    <a:pt x="3663552" y="697598"/>
                  </a:lnTo>
                  <a:lnTo>
                    <a:pt x="0" y="697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0833" t="-186294" r="-26029" b="-402515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655400" y="0"/>
              <a:ext cx="3663552" cy="697598"/>
            </a:xfrm>
            <a:custGeom>
              <a:avLst/>
              <a:gdLst/>
              <a:ahLst/>
              <a:cxnLst/>
              <a:rect r="r" b="b" t="t" l="l"/>
              <a:pathLst>
                <a:path h="697598" w="3663552">
                  <a:moveTo>
                    <a:pt x="0" y="0"/>
                  </a:moveTo>
                  <a:lnTo>
                    <a:pt x="3663552" y="0"/>
                  </a:lnTo>
                  <a:lnTo>
                    <a:pt x="3663552" y="697598"/>
                  </a:lnTo>
                  <a:lnTo>
                    <a:pt x="0" y="697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0833" t="-186294" r="-26029" b="-402515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011352" y="0"/>
              <a:ext cx="3663552" cy="697598"/>
            </a:xfrm>
            <a:custGeom>
              <a:avLst/>
              <a:gdLst/>
              <a:ahLst/>
              <a:cxnLst/>
              <a:rect r="r" b="b" t="t" l="l"/>
              <a:pathLst>
                <a:path h="697598" w="3663552">
                  <a:moveTo>
                    <a:pt x="0" y="0"/>
                  </a:moveTo>
                  <a:lnTo>
                    <a:pt x="3663553" y="0"/>
                  </a:lnTo>
                  <a:lnTo>
                    <a:pt x="3663553" y="697598"/>
                  </a:lnTo>
                  <a:lnTo>
                    <a:pt x="0" y="697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0833" t="-186294" r="-26029" b="-402515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7977248" y="0"/>
              <a:ext cx="3663552" cy="697598"/>
            </a:xfrm>
            <a:custGeom>
              <a:avLst/>
              <a:gdLst/>
              <a:ahLst/>
              <a:cxnLst/>
              <a:rect r="r" b="b" t="t" l="l"/>
              <a:pathLst>
                <a:path h="697598" w="3663552">
                  <a:moveTo>
                    <a:pt x="0" y="0"/>
                  </a:moveTo>
                  <a:lnTo>
                    <a:pt x="3663552" y="0"/>
                  </a:lnTo>
                  <a:lnTo>
                    <a:pt x="3663552" y="697598"/>
                  </a:lnTo>
                  <a:lnTo>
                    <a:pt x="0" y="697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0833" t="-186294" r="-26029" b="-402515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300293" y="125055"/>
              <a:ext cx="718366" cy="425343"/>
            </a:xfrm>
            <a:custGeom>
              <a:avLst/>
              <a:gdLst/>
              <a:ahLst/>
              <a:cxnLst/>
              <a:rect r="r" b="b" t="t" l="l"/>
              <a:pathLst>
                <a:path h="425343" w="718366">
                  <a:moveTo>
                    <a:pt x="0" y="0"/>
                  </a:moveTo>
                  <a:lnTo>
                    <a:pt x="718366" y="0"/>
                  </a:lnTo>
                  <a:lnTo>
                    <a:pt x="718366" y="425343"/>
                  </a:lnTo>
                  <a:lnTo>
                    <a:pt x="0" y="425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510" r="0" b="-3538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722976" y="128150"/>
              <a:ext cx="2095650" cy="42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28"/>
                </a:lnSpc>
                <a:spcBef>
                  <a:spcPct val="0"/>
                </a:spcBef>
              </a:pPr>
              <a:r>
                <a:rPr lang="en-US" sz="2007" spc="160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RAW DATA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350721" y="128150"/>
              <a:ext cx="2150887" cy="42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28"/>
                </a:lnSpc>
                <a:spcBef>
                  <a:spcPct val="0"/>
                </a:spcBef>
              </a:pPr>
              <a:r>
                <a:rPr lang="en-US" sz="2007" spc="160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CLEANING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2331866" y="-19050"/>
              <a:ext cx="3018594" cy="77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28"/>
                </a:lnSpc>
              </a:pPr>
              <a:r>
                <a:rPr lang="en-US" sz="2007" spc="160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FEATURE </a:t>
              </a:r>
            </a:p>
            <a:p>
              <a:pPr algn="ctr">
                <a:lnSpc>
                  <a:spcPts val="2128"/>
                </a:lnSpc>
                <a:spcBef>
                  <a:spcPct val="0"/>
                </a:spcBef>
              </a:pPr>
              <a:r>
                <a:rPr lang="en-US" sz="2007" spc="160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ENGINEERING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8632652" y="-19050"/>
              <a:ext cx="2349683" cy="77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28"/>
                </a:lnSpc>
              </a:pPr>
              <a:r>
                <a:rPr lang="en-US" sz="2007" spc="160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READY FOR</a:t>
              </a:r>
            </a:p>
            <a:p>
              <a:pPr algn="ctr">
                <a:lnSpc>
                  <a:spcPts val="2128"/>
                </a:lnSpc>
                <a:spcBef>
                  <a:spcPct val="0"/>
                </a:spcBef>
              </a:pPr>
              <a:r>
                <a:rPr lang="en-US" sz="2007" spc="160">
                  <a:solidFill>
                    <a:srgbClr val="4D0E0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MODELING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10305969" y="166728"/>
              <a:ext cx="718366" cy="425343"/>
            </a:xfrm>
            <a:custGeom>
              <a:avLst/>
              <a:gdLst/>
              <a:ahLst/>
              <a:cxnLst/>
              <a:rect r="r" b="b" t="t" l="l"/>
              <a:pathLst>
                <a:path h="425343" w="718366">
                  <a:moveTo>
                    <a:pt x="0" y="0"/>
                  </a:moveTo>
                  <a:lnTo>
                    <a:pt x="718367" y="0"/>
                  </a:lnTo>
                  <a:lnTo>
                    <a:pt x="718367" y="425343"/>
                  </a:lnTo>
                  <a:lnTo>
                    <a:pt x="0" y="425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510" r="0" b="-3538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466893" y="136127"/>
              <a:ext cx="718366" cy="425343"/>
            </a:xfrm>
            <a:custGeom>
              <a:avLst/>
              <a:gdLst/>
              <a:ahLst/>
              <a:cxnLst/>
              <a:rect r="r" b="b" t="t" l="l"/>
              <a:pathLst>
                <a:path h="425343" w="718366">
                  <a:moveTo>
                    <a:pt x="0" y="0"/>
                  </a:moveTo>
                  <a:lnTo>
                    <a:pt x="718366" y="0"/>
                  </a:lnTo>
                  <a:lnTo>
                    <a:pt x="718366" y="425344"/>
                  </a:lnTo>
                  <a:lnTo>
                    <a:pt x="0" y="425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510" r="0" b="-3538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0956" y="1000125"/>
            <a:ext cx="13346088" cy="66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0"/>
              </a:lnSpc>
              <a:spcBef>
                <a:spcPct val="0"/>
              </a:spcBef>
            </a:pPr>
            <a:r>
              <a:rPr lang="en-US" b="true" sz="4207" i="true" spc="336">
                <a:solidFill>
                  <a:srgbClr val="93454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METHODOLOGY: MULTI-MODEL APPROACH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82070" y="2380901"/>
            <a:ext cx="9740883" cy="1319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b="true" sz="2399" spc="191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MULTIPLE MODELS?</a:t>
            </a:r>
          </a:p>
          <a:p>
            <a:pPr algn="l">
              <a:lnSpc>
                <a:spcPts val="2543"/>
              </a:lnSpc>
            </a:pPr>
            <a:r>
              <a:rPr lang="en-US" sz="2399" spc="19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Compare different statistical techniques</a:t>
            </a:r>
          </a:p>
          <a:p>
            <a:pPr algn="l">
              <a:lnSpc>
                <a:spcPts val="2543"/>
              </a:lnSpc>
            </a:pPr>
            <a:r>
              <a:rPr lang="en-US" sz="2399" spc="19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Identify best approach for price prediction</a:t>
            </a:r>
          </a:p>
          <a:p>
            <a:pPr algn="l">
              <a:lnSpc>
                <a:spcPts val="2543"/>
              </a:lnSpc>
              <a:spcBef>
                <a:spcPct val="0"/>
              </a:spcBef>
            </a:pPr>
            <a:r>
              <a:rPr lang="en-US" sz="2399" spc="19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Validate findings across methods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82070" y="4430980"/>
            <a:ext cx="13179809" cy="511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b="true" sz="2711" spc="216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1: </a:t>
            </a:r>
            <a:r>
              <a:rPr lang="en-US" sz="2711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LINEAR REGRESSION - SIMPLE</a:t>
            </a:r>
          </a:p>
          <a:p>
            <a:pPr algn="l">
              <a:lnSpc>
                <a:spcPts val="2873"/>
              </a:lnSpc>
            </a:pPr>
            <a:r>
              <a:rPr lang="en-US" sz="2711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Baseline with 3 predictors: Retail Price, Brand, Age</a:t>
            </a:r>
          </a:p>
          <a:p>
            <a:pPr algn="l">
              <a:lnSpc>
                <a:spcPts val="2873"/>
              </a:lnSpc>
            </a:pPr>
          </a:p>
          <a:p>
            <a:pPr algn="l">
              <a:lnSpc>
                <a:spcPts val="2873"/>
              </a:lnSpc>
            </a:pPr>
            <a:r>
              <a:rPr lang="en-US" b="true" sz="2711" spc="216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2:</a:t>
            </a:r>
            <a:r>
              <a:rPr lang="en-US" sz="2711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Linear Regression - Full  </a:t>
            </a:r>
          </a:p>
          <a:p>
            <a:pPr algn="l">
              <a:lnSpc>
                <a:spcPts val="2873"/>
              </a:lnSpc>
            </a:pPr>
            <a:r>
              <a:rPr lang="en-US" sz="2711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Added variables: Premium status, Month, Year, Region</a:t>
            </a:r>
          </a:p>
          <a:p>
            <a:pPr algn="l">
              <a:lnSpc>
                <a:spcPts val="2873"/>
              </a:lnSpc>
            </a:pPr>
          </a:p>
          <a:p>
            <a:pPr algn="l">
              <a:lnSpc>
                <a:spcPts val="2873"/>
              </a:lnSpc>
            </a:pPr>
            <a:r>
              <a:rPr lang="en-US" b="true" sz="2711" spc="216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3:</a:t>
            </a:r>
            <a:r>
              <a:rPr lang="en-US" sz="2711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Log-Transformed Regression</a:t>
            </a:r>
          </a:p>
          <a:p>
            <a:pPr algn="l">
              <a:lnSpc>
                <a:spcPts val="2873"/>
              </a:lnSpc>
            </a:pPr>
            <a:r>
              <a:rPr lang="en-US" sz="2711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Log transformation of prices for better fit</a:t>
            </a:r>
          </a:p>
          <a:p>
            <a:pPr algn="l">
              <a:lnSpc>
                <a:spcPts val="2873"/>
              </a:lnSpc>
            </a:pPr>
          </a:p>
          <a:p>
            <a:pPr algn="l">
              <a:lnSpc>
                <a:spcPts val="2873"/>
              </a:lnSpc>
            </a:pPr>
            <a:r>
              <a:rPr lang="en-US" b="true" sz="2711" spc="216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4:</a:t>
            </a:r>
            <a:r>
              <a:rPr lang="en-US" sz="2711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Generalized Linear Model (GLM)</a:t>
            </a:r>
          </a:p>
          <a:p>
            <a:pPr algn="l">
              <a:lnSpc>
                <a:spcPts val="2873"/>
              </a:lnSpc>
            </a:pPr>
            <a:r>
              <a:rPr lang="en-US" sz="2711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Flexible regression approach (gaussian family)</a:t>
            </a:r>
          </a:p>
          <a:p>
            <a:pPr algn="l">
              <a:lnSpc>
                <a:spcPts val="2873"/>
              </a:lnSpc>
            </a:pPr>
          </a:p>
          <a:p>
            <a:pPr algn="l">
              <a:lnSpc>
                <a:spcPts val="2873"/>
              </a:lnSpc>
            </a:pPr>
            <a:r>
              <a:rPr lang="en-US" b="true" sz="2711" spc="216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5:</a:t>
            </a:r>
            <a:r>
              <a:rPr lang="en-US" sz="2711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Decision Tree</a:t>
            </a:r>
          </a:p>
          <a:p>
            <a:pPr algn="l">
              <a:lnSpc>
                <a:spcPts val="2873"/>
              </a:lnSpc>
              <a:spcBef>
                <a:spcPct val="0"/>
              </a:spcBef>
            </a:pPr>
            <a:r>
              <a:rPr lang="en-US" sz="2711" spc="216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Non-linear, rule-based predictions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60100"/>
            <a:ext cx="9627890" cy="5655694"/>
          </a:xfrm>
          <a:custGeom>
            <a:avLst/>
            <a:gdLst/>
            <a:ahLst/>
            <a:cxnLst/>
            <a:rect r="r" b="b" t="t" l="l"/>
            <a:pathLst>
              <a:path h="5655694" w="9627890">
                <a:moveTo>
                  <a:pt x="0" y="0"/>
                </a:moveTo>
                <a:lnTo>
                  <a:pt x="9627890" y="0"/>
                </a:lnTo>
                <a:lnTo>
                  <a:pt x="9627890" y="5655693"/>
                </a:lnTo>
                <a:lnTo>
                  <a:pt x="0" y="5655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4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67827" y="6666225"/>
            <a:ext cx="6091473" cy="2349568"/>
          </a:xfrm>
          <a:custGeom>
            <a:avLst/>
            <a:gdLst/>
            <a:ahLst/>
            <a:cxnLst/>
            <a:rect r="r" b="b" t="t" l="l"/>
            <a:pathLst>
              <a:path h="2349568" w="6091473">
                <a:moveTo>
                  <a:pt x="0" y="0"/>
                </a:moveTo>
                <a:lnTo>
                  <a:pt x="6091473" y="0"/>
                </a:lnTo>
                <a:lnTo>
                  <a:pt x="6091473" y="2349568"/>
                </a:lnTo>
                <a:lnTo>
                  <a:pt x="0" y="2349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670" t="-109202" r="-72099" b="-10549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92412" y="1654641"/>
            <a:ext cx="14703177" cy="6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b="true" sz="4200" i="true" spc="336">
                <a:solidFill>
                  <a:srgbClr val="93454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RESULTS: MODEL PERFORMANCE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98563" y="3298189"/>
            <a:ext cx="6091473" cy="288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5"/>
              </a:lnSpc>
            </a:pPr>
            <a:r>
              <a:rPr lang="en-US" b="true" sz="2599" spc="207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FINDINGS</a:t>
            </a:r>
          </a:p>
          <a:p>
            <a:pPr algn="ctr">
              <a:lnSpc>
                <a:spcPts val="2226"/>
              </a:lnSpc>
            </a:pPr>
          </a:p>
          <a:p>
            <a:pPr algn="l">
              <a:lnSpc>
                <a:spcPts val="2226"/>
              </a:lnSpc>
            </a:pPr>
            <a:r>
              <a:rPr lang="en-US" b="true" sz="2100" spc="16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✓</a:t>
            </a: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Decision Tree achieved highest</a:t>
            </a:r>
          </a:p>
          <a:p>
            <a:pPr algn="l">
              <a:lnSpc>
                <a:spcPts val="2226"/>
              </a:lnSpc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accuracy (58% R²)</a:t>
            </a:r>
          </a:p>
          <a:p>
            <a:pPr algn="l">
              <a:lnSpc>
                <a:spcPts val="2226"/>
              </a:lnSpc>
            </a:pPr>
            <a:r>
              <a:rPr lang="en-US" b="true" sz="2100" spc="16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✓</a:t>
            </a: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All models improved from</a:t>
            </a:r>
          </a:p>
          <a:p>
            <a:pPr algn="l">
              <a:lnSpc>
                <a:spcPts val="2226"/>
              </a:lnSpc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simple to complex</a:t>
            </a:r>
          </a:p>
          <a:p>
            <a:pPr algn="l">
              <a:lnSpc>
                <a:spcPts val="2226"/>
              </a:lnSpc>
            </a:pPr>
            <a:r>
              <a:rPr lang="en-US" b="true" sz="2100" spc="16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✓</a:t>
            </a: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Tree-based approach captured</a:t>
            </a:r>
          </a:p>
          <a:p>
            <a:pPr algn="l">
              <a:lnSpc>
                <a:spcPts val="2226"/>
              </a:lnSpc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non-linear patterns</a:t>
            </a:r>
          </a:p>
          <a:p>
            <a:pPr algn="l">
              <a:lnSpc>
                <a:spcPts val="2226"/>
              </a:lnSpc>
            </a:pPr>
            <a:r>
              <a:rPr lang="en-US" b="true" sz="2100" spc="16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✓</a:t>
            </a: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Lowest prediction error: $165</a:t>
            </a:r>
          </a:p>
          <a:p>
            <a:pPr algn="l">
              <a:lnSpc>
                <a:spcPts val="2226"/>
              </a:lnSpc>
              <a:spcBef>
                <a:spcPct val="0"/>
              </a:spcBef>
            </a:pPr>
            <a:r>
              <a:rPr lang="en-US" sz="2100" spc="16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(Decision Tree)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0682" y="3971221"/>
            <a:ext cx="7680714" cy="5760536"/>
          </a:xfrm>
          <a:custGeom>
            <a:avLst/>
            <a:gdLst/>
            <a:ahLst/>
            <a:cxnLst/>
            <a:rect r="r" b="b" t="t" l="l"/>
            <a:pathLst>
              <a:path h="5760536" w="7680714">
                <a:moveTo>
                  <a:pt x="0" y="0"/>
                </a:moveTo>
                <a:lnTo>
                  <a:pt x="7680714" y="0"/>
                </a:lnTo>
                <a:lnTo>
                  <a:pt x="7680714" y="5760535"/>
                </a:lnTo>
                <a:lnTo>
                  <a:pt x="0" y="5760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55752" y="681799"/>
            <a:ext cx="11976497" cy="6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b="true" sz="4200" i="true" spc="336">
                <a:solidFill>
                  <a:srgbClr val="93454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BEST MODEL: DECISION TREE (58% R²)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15386" y="4139326"/>
            <a:ext cx="8003151" cy="541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b="true" sz="2494" spc="42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DECISION TREE WON</a:t>
            </a:r>
          </a:p>
          <a:p>
            <a:pPr algn="ctr">
              <a:lnSpc>
                <a:spcPts val="2295"/>
              </a:lnSpc>
            </a:pPr>
          </a:p>
          <a:p>
            <a:pPr algn="l">
              <a:lnSpc>
                <a:spcPts val="2295"/>
              </a:lnSpc>
            </a:pPr>
            <a:r>
              <a:rPr lang="en-US" b="true" sz="2250" spc="3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✓</a:t>
            </a: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Captured non-linear  </a:t>
            </a:r>
          </a:p>
          <a:p>
            <a:pPr algn="l">
              <a:lnSpc>
                <a:spcPts val="2295"/>
              </a:lnSpc>
            </a:pP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</a:t>
            </a: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relationships</a:t>
            </a:r>
          </a:p>
          <a:p>
            <a:pPr algn="l">
              <a:lnSpc>
                <a:spcPts val="2295"/>
              </a:lnSpc>
            </a:pPr>
            <a:r>
              <a:rPr lang="en-US" b="true" sz="2250" spc="3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✓</a:t>
            </a: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Better handling of brand</a:t>
            </a:r>
          </a:p>
          <a:p>
            <a:pPr algn="l">
              <a:lnSpc>
                <a:spcPts val="2295"/>
              </a:lnSpc>
            </a:pP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interactions  </a:t>
            </a:r>
          </a:p>
          <a:p>
            <a:pPr algn="l">
              <a:lnSpc>
                <a:spcPts val="2295"/>
              </a:lnSpc>
            </a:pPr>
            <a:r>
              <a:rPr lang="en-US" b="true" sz="2250" spc="3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✓</a:t>
            </a: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Most flexible pattern</a:t>
            </a:r>
          </a:p>
          <a:p>
            <a:pPr algn="l">
              <a:lnSpc>
                <a:spcPts val="2295"/>
              </a:lnSpc>
            </a:pP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recognition</a:t>
            </a:r>
          </a:p>
          <a:p>
            <a:pPr algn="l">
              <a:lnSpc>
                <a:spcPts val="2295"/>
              </a:lnSpc>
            </a:pPr>
            <a:r>
              <a:rPr lang="en-US" b="true" sz="2250" spc="3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✓  </a:t>
            </a: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Lowest prediction error ($165</a:t>
            </a:r>
          </a:p>
          <a:p>
            <a:pPr algn="l">
              <a:lnSpc>
                <a:spcPts val="2295"/>
              </a:lnSpc>
            </a:pP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vs $213 baseline)</a:t>
            </a:r>
          </a:p>
          <a:p>
            <a:pPr algn="l">
              <a:lnSpc>
                <a:spcPts val="2295"/>
              </a:lnSpc>
            </a:pPr>
          </a:p>
          <a:p>
            <a:pPr algn="ctr">
              <a:lnSpc>
                <a:spcPts val="3965"/>
              </a:lnSpc>
            </a:pPr>
            <a:r>
              <a:rPr lang="en-US" b="true" sz="2494" spc="42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USES</a:t>
            </a:r>
          </a:p>
          <a:p>
            <a:pPr algn="ctr">
              <a:lnSpc>
                <a:spcPts val="2295"/>
              </a:lnSpc>
            </a:pPr>
          </a:p>
          <a:p>
            <a:pPr algn="l">
              <a:lnSpc>
                <a:spcPts val="2295"/>
              </a:lnSpc>
            </a:pPr>
            <a:r>
              <a:rPr lang="en-US" b="true" sz="2250" spc="3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-  </a:t>
            </a: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Retail Price, Brand, Days Since</a:t>
            </a:r>
          </a:p>
          <a:p>
            <a:pPr algn="l">
              <a:lnSpc>
                <a:spcPts val="2295"/>
              </a:lnSpc>
            </a:pP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Release</a:t>
            </a:r>
          </a:p>
          <a:p>
            <a:pPr algn="l">
              <a:lnSpc>
                <a:spcPts val="2295"/>
              </a:lnSpc>
            </a:pPr>
            <a:r>
              <a:rPr lang="en-US" b="true" sz="2250" spc="3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-  </a:t>
            </a: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Sale Month, Release Year</a:t>
            </a:r>
          </a:p>
          <a:p>
            <a:pPr algn="l">
              <a:lnSpc>
                <a:spcPts val="2295"/>
              </a:lnSpc>
            </a:pPr>
            <a:r>
              <a:rPr lang="en-US" b="true" sz="2250" spc="38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-  </a:t>
            </a: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Makes sequential rule-based</a:t>
            </a:r>
          </a:p>
          <a:p>
            <a:pPr algn="l">
              <a:lnSpc>
                <a:spcPts val="2295"/>
              </a:lnSpc>
            </a:pPr>
            <a:r>
              <a:rPr lang="en-US" sz="2250" spc="38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decisions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72427" y="2017025"/>
            <a:ext cx="1698612" cy="169861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BDB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6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23821" y="2468854"/>
            <a:ext cx="1195824" cy="39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b="true" sz="2473" spc="197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[ 58% ]</a:t>
            </a:r>
            <a:r>
              <a:rPr lang="en-US" sz="2473" spc="197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45290" y="3147751"/>
            <a:ext cx="552885" cy="33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  <a:spcBef>
                <a:spcPct val="0"/>
              </a:spcBef>
            </a:pPr>
            <a:r>
              <a:rPr lang="en-US" b="true" sz="2132" spc="170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R^2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94694" y="2017025"/>
            <a:ext cx="1698612" cy="169861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BDB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565761" y="2468854"/>
            <a:ext cx="1156477" cy="39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b="true" sz="2473" spc="197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[ $165 ]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24826" y="3147751"/>
            <a:ext cx="1084130" cy="33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  <a:spcBef>
                <a:spcPct val="0"/>
              </a:spcBef>
            </a:pPr>
            <a:r>
              <a:rPr lang="en-US" b="true" sz="2132" spc="170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ERROR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516961" y="2017025"/>
            <a:ext cx="1698612" cy="169861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BD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928395" y="2468854"/>
            <a:ext cx="844623" cy="39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b="true" sz="2473" spc="197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[ #1 ]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40389" y="3120348"/>
            <a:ext cx="879400" cy="33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  <a:spcBef>
                <a:spcPct val="0"/>
              </a:spcBef>
            </a:pPr>
            <a:r>
              <a:rPr lang="en-US" b="true" sz="2132" spc="170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RANK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9375" y="1000125"/>
            <a:ext cx="16389251" cy="63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4000" i="true" spc="320">
                <a:solidFill>
                  <a:srgbClr val="93454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KEY INSIGHTS: WHAT DRIVES SNEAKER RESALE VALUE?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0962" y="2236936"/>
            <a:ext cx="14766076" cy="702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1️⃣</a:t>
            </a:r>
            <a:r>
              <a:rPr lang="en-US" b="true" sz="2177" spc="174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RETAIL PRICE 💰  - STRONGEST PREDICTOR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Higher retail = Higher resale (4x multiplier effect)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Premium positioning pays off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Price signals quality and exclusivity</a:t>
            </a:r>
          </a:p>
          <a:p>
            <a:pPr algn="l">
              <a:lnSpc>
                <a:spcPts val="2308"/>
              </a:lnSpc>
            </a:pPr>
          </a:p>
          <a:p>
            <a:pPr algn="l">
              <a:lnSpc>
                <a:spcPts val="2308"/>
              </a:lnSpc>
            </a:pPr>
            <a:r>
              <a:rPr lang="en-US" b="true" sz="2177" spc="174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2️⃣ BRAND PREMIUM 👑  - Massive Impact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Yeezy, Off-White, Jordan: 200-400% markups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Nike/Adidas standard models: 50-100% markups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Brand reputation = major value driver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Collaborations command highest premiums</a:t>
            </a:r>
          </a:p>
          <a:p>
            <a:pPr algn="l">
              <a:lnSpc>
                <a:spcPts val="2308"/>
              </a:lnSpc>
            </a:pPr>
          </a:p>
          <a:p>
            <a:pPr algn="l">
              <a:lnSpc>
                <a:spcPts val="2308"/>
              </a:lnSpc>
            </a:pPr>
            <a:r>
              <a:rPr lang="en-US" b="true" sz="2177" spc="174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3️⃣ TIME EFFECTS ⏰  - Double-Edged Sword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Newer releases: Lower immediate resale (high supply)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Older releases: Higher value (scarcity effect)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Sweet spot: 6-12 months after release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Vintage factor increases with time</a:t>
            </a:r>
          </a:p>
          <a:p>
            <a:pPr algn="l">
              <a:lnSpc>
                <a:spcPts val="2308"/>
              </a:lnSpc>
            </a:pPr>
          </a:p>
          <a:p>
            <a:pPr algn="l">
              <a:lnSpc>
                <a:spcPts val="2308"/>
              </a:lnSpc>
            </a:pPr>
          </a:p>
          <a:p>
            <a:pPr algn="l">
              <a:lnSpc>
                <a:spcPts val="2308"/>
              </a:lnSpc>
            </a:pPr>
          </a:p>
          <a:p>
            <a:pPr algn="l">
              <a:lnSpc>
                <a:spcPts val="2308"/>
              </a:lnSpc>
            </a:pPr>
            <a:r>
              <a:rPr lang="en-US" b="true" sz="2177" spc="174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🎯 SURPRISING FINDING</a:t>
            </a:r>
          </a:p>
          <a:p>
            <a:pPr algn="ctr">
              <a:lnSpc>
                <a:spcPts val="2308"/>
              </a:lnSpc>
            </a:pP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Mid-range sneakers ($150-$220) perform BEST</a:t>
            </a:r>
          </a:p>
          <a:p>
            <a:pPr algn="l">
              <a:lnSpc>
                <a:spcPts val="2308"/>
              </a:lnSpc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Perfect balance: accessible yet premium</a:t>
            </a:r>
          </a:p>
          <a:p>
            <a:pPr algn="l">
              <a:lnSpc>
                <a:spcPts val="2308"/>
              </a:lnSpc>
              <a:spcBef>
                <a:spcPct val="0"/>
              </a:spcBef>
            </a:pPr>
            <a:r>
              <a:rPr lang="en-US" sz="2177" spc="17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Highest ROI for resellers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5984" y="363474"/>
            <a:ext cx="15036031" cy="6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b="true" sz="4200" i="true" spc="336">
                <a:solidFill>
                  <a:srgbClr val="4D0E0A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BUSINESS IMPLICATIONS &amp; RECOMMENDATIONS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6063"/>
            <a:ext cx="7999536" cy="724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b="true" sz="1762" spc="141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👤 FOR CONSUMERS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Smart Buying Strategy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Focus on limited releases from premium brands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Target mid-range retail prices ($150-$220)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Buy within first 6 months for best resale potential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Decision Tree model = 58% prediction accuracy</a:t>
            </a:r>
          </a:p>
          <a:p>
            <a:pPr algn="l">
              <a:lnSpc>
                <a:spcPts val="2644"/>
              </a:lnSpc>
            </a:pP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💼 </a:t>
            </a:r>
            <a:r>
              <a:rPr lang="en-US" b="true" sz="1762" spc="141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FOR RESELLERS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Inventory Optimization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Prioritize: Yeezy, Off-White, Jordan collaborations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Sweet spot retail: $150-$220 range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Hold inventory 6-12 months for optimal returns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Predict resale value BEFORE purchasing</a:t>
            </a:r>
          </a:p>
          <a:p>
            <a:pPr algn="l">
              <a:lnSpc>
                <a:spcPts val="2644"/>
              </a:lnSpc>
            </a:pP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🏢 </a:t>
            </a:r>
            <a:r>
              <a:rPr lang="en-US" b="true" sz="1762" spc="141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FOR BRANDS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Strategic Insights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Limited releases drive secondary market value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Premium positioning justified by resale data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Collaborations highly effective for brand value</a:t>
            </a:r>
          </a:p>
          <a:p>
            <a:pPr algn="l">
              <a:lnSpc>
                <a:spcPts val="2644"/>
              </a:lnSpc>
            </a:pPr>
            <a:r>
              <a:rPr lang="en-US" sz="1762" spc="141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Use model to inform pricing strategies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316057" y="2480594"/>
            <a:ext cx="6517932" cy="3313525"/>
            <a:chOff x="0" y="0"/>
            <a:chExt cx="1716657" cy="8726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16657" cy="872698"/>
            </a:xfrm>
            <a:custGeom>
              <a:avLst/>
              <a:gdLst/>
              <a:ahLst/>
              <a:cxnLst/>
              <a:rect r="r" b="b" t="t" l="l"/>
              <a:pathLst>
                <a:path h="872698" w="1716657">
                  <a:moveTo>
                    <a:pt x="0" y="0"/>
                  </a:moveTo>
                  <a:lnTo>
                    <a:pt x="1716657" y="0"/>
                  </a:lnTo>
                  <a:lnTo>
                    <a:pt x="1716657" y="872698"/>
                  </a:lnTo>
                  <a:lnTo>
                    <a:pt x="0" y="872698"/>
                  </a:lnTo>
                  <a:close/>
                </a:path>
              </a:pathLst>
            </a:custGeom>
            <a:solidFill>
              <a:srgbClr val="D8878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716657" cy="89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638604" y="2525889"/>
            <a:ext cx="6338505" cy="320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</a:p>
          <a:p>
            <a:pPr algn="l">
              <a:lnSpc>
                <a:spcPts val="2479"/>
              </a:lnSpc>
            </a:pPr>
          </a:p>
          <a:p>
            <a:pPr algn="l">
              <a:lnSpc>
                <a:spcPts val="2479"/>
              </a:lnSpc>
            </a:pPr>
            <a:r>
              <a:rPr lang="en-US" b="true" sz="2338" spc="187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DATA-DRIVEN DECISIONS IN </a:t>
            </a:r>
          </a:p>
          <a:p>
            <a:pPr algn="l">
              <a:lnSpc>
                <a:spcPts val="2479"/>
              </a:lnSpc>
            </a:pPr>
            <a:r>
              <a:rPr lang="en-US" b="true" sz="2338" spc="187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SNEAKER RESALE MARKET</a:t>
            </a:r>
          </a:p>
          <a:p>
            <a:pPr algn="l">
              <a:lnSpc>
                <a:spcPts val="2479"/>
              </a:lnSpc>
            </a:pPr>
          </a:p>
          <a:p>
            <a:pPr algn="l">
              <a:lnSpc>
                <a:spcPts val="2479"/>
              </a:lnSpc>
            </a:pPr>
            <a:r>
              <a:rPr lang="en-US" b="true" sz="2338" spc="187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                              </a:t>
            </a:r>
          </a:p>
          <a:p>
            <a:pPr algn="just">
              <a:lnSpc>
                <a:spcPts val="2479"/>
              </a:lnSpc>
            </a:pPr>
            <a:r>
              <a:rPr lang="en-US" b="true" sz="2338" spc="187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-  58%  Prediction  Accuracy            </a:t>
            </a:r>
          </a:p>
          <a:p>
            <a:pPr algn="just">
              <a:lnSpc>
                <a:spcPts val="2479"/>
              </a:lnSpc>
            </a:pPr>
            <a:r>
              <a:rPr lang="en-US" b="true" sz="2338" spc="187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-  $165  Average  Error                 </a:t>
            </a:r>
          </a:p>
          <a:p>
            <a:pPr algn="just">
              <a:lnSpc>
                <a:spcPts val="2479"/>
              </a:lnSpc>
            </a:pPr>
            <a:r>
              <a:rPr lang="en-US" b="true" sz="2338" spc="187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-  5  Models  Tested                    </a:t>
            </a:r>
          </a:p>
          <a:p>
            <a:pPr algn="just">
              <a:lnSpc>
                <a:spcPts val="24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316057" y="6304236"/>
            <a:ext cx="7368554" cy="219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spc="14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📊 </a:t>
            </a:r>
            <a:r>
              <a:rPr lang="en-US" b="true" sz="1800" spc="144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PRACTICAL TOOL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spc="14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MODEL CAN BE DEPLOYED AS: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spc="14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REAL-TIME PRICING PREDICTION TOOL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spc="14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INVESTMENT DECISION SUPPORT SYSTEM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spc="144">
                <a:solidFill>
                  <a:srgbClr val="4D0E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MARKET ANALYTICS DASHBOARD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b="true" sz="1800" spc="144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INPUT: NEW RELEASE DETAILS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b="true" sz="1800" spc="144">
                <a:solidFill>
                  <a:srgbClr val="4D0E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OUTPUT: PREDICTED RESALE VALUE + CONFIDENCE INTERVAL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4733925"/>
            <a:ext cx="18288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12000" i="true" spc="-240">
                <a:solidFill>
                  <a:srgbClr val="993A4F"/>
                </a:solidFill>
                <a:latin typeface="EB Garamond Semi-Bold Italics"/>
                <a:ea typeface="EB Garamond Semi-Bold Italics"/>
                <a:cs typeface="EB Garamond Semi-Bold Italics"/>
                <a:sym typeface="EB Garamond Semi-Bold Italics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DAG6bg2VTjc</dc:identifier>
  <dcterms:modified xsi:type="dcterms:W3CDTF">2011-08-01T06:04:30Z</dcterms:modified>
  <cp:revision>1</cp:revision>
  <dc:title>d</dc:title>
</cp:coreProperties>
</file>